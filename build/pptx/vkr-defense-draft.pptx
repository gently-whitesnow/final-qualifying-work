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 type="wide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 <Relationship Id="rId2" Type="http://schemas.openxmlformats.org/officeDocument/2006/relationships/slide" Target="slides/slide1.xml"/> <Relationship Id="rId3" Type="http://schemas.openxmlformats.org/officeDocument/2006/relationships/slide" Target="slides/slide2.xml"/> <Relationship Id="rId4" Type="http://schemas.openxmlformats.org/officeDocument/2006/relationships/slide" Target="slides/slide3.xml"/> <Relationship Id="rId5" Type="http://schemas.openxmlformats.org/officeDocument/2006/relationships/slide" Target="slides/slide4.xml"/> <Relationship Id="rId6" Type="http://schemas.openxmlformats.org/officeDocument/2006/relationships/slide" Target="slides/slide5.xml"/> <Relationship Id="rId7" Type="http://schemas.openxmlformats.org/officeDocument/2006/relationships/slide" Target="slides/slide6.xml"/> <Relationship Id="rId8" Type="http://schemas.openxmlformats.org/officeDocument/2006/relationships/slide" Target="slides/slide7.xml"/> <Relationship Id="rId9" Type="http://schemas.openxmlformats.org/officeDocument/2006/relationships/slide" Target="slides/slide8.xml"/> <Relationship Id="rId10" Type="http://schemas.openxmlformats.org/officeDocument/2006/relationships/slide" Target="slides/slide9.xml"/> <Relationship Id="rId11" Type="http://schemas.openxmlformats.org/officeDocument/2006/relationships/slide" Target="slides/slide10.xml"/> <Relationship Id="rId12" Type="http://schemas.openxmlformats.org/officeDocument/2006/relationships/slide" Target="slides/slide11.xml"/> <Relationship Id="rId13" Type="http://schemas.openxmlformats.org/officeDocument/2006/relationships/slide" Target="slides/slide12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1325880"/>
            <a:ext cx="10881360" cy="155448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2600" b="1">
                <a:solidFill>
                  <a:srgbClr val="18212B"/>
                </a:solidFill>
                <a:latin typeface="Aptos"/>
                <a:cs typeface="Aptos"/>
              </a:rPr>
              <a:t>Разработка real-time интерфейса с поддержкой горизонтального масштабирования WebSocket-соединений для системы отслеживания задач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594360" y="3246120"/>
            <a:ext cx="10881360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1600" b="0">
                <a:solidFill>
                  <a:srgbClr val="5E6A75"/>
                </a:solidFill>
                <a:latin typeface="Aptos"/>
                <a:cs typeface="Aptos"/>
              </a:rPr>
              <a:t>Защита выпускной квалификационной работы</a:t>
            </a:r>
          </a:p>
        </p:txBody>
      </p:sp>
      <p:sp>
        <p:nvSpPr>
          <p:cNvPr id="12" name="Shape 12"/>
          <p:cNvSpPr txBox="1"/>
          <p:nvPr/>
        </p:nvSpPr>
        <p:spPr>
          <a:xfrm>
            <a:off x="594360" y="4297680"/>
            <a:ext cx="10881360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Студент: Зайцев А. С., группа 4131з</a:t>
            </a:r>
          </a:p>
        </p:txBody>
      </p:sp>
      <p:sp>
        <p:nvSpPr>
          <p:cNvPr id="13" name="Shape 13"/>
          <p:cNvSpPr txBox="1"/>
          <p:nvPr/>
        </p:nvSpPr>
        <p:spPr>
          <a:xfrm>
            <a:off x="594360" y="4754880"/>
            <a:ext cx="10881360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Руководитель: канд. техн. наук, доцент А. В. Фомин</a:t>
            </a:r>
          </a:p>
        </p:txBody>
      </p:sp>
      <p:sp>
        <p:nvSpPr>
          <p:cNvPr id="14" name="Shape 14"/>
          <p:cNvSpPr txBox="1"/>
          <p:nvPr/>
        </p:nvSpPr>
        <p:spPr>
          <a:xfrm>
            <a:off x="594360" y="5486400"/>
            <a:ext cx="10881360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1400" b="0">
                <a:solidFill>
                  <a:srgbClr val="5E6A75"/>
                </a:solidFill>
                <a:latin typeface="Aptos"/>
                <a:cs typeface="Aptos"/>
              </a:rPr>
              <a:t>Санкт-Петербург, 2026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Aptos"/>
                <a:cs typeface="Aptos"/>
              </a:rPr>
              <a:t>Real-time scale-out ·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8212B"/>
                </a:solidFill>
                <a:latin typeface="Aptos"/>
                <a:cs typeface="Aptos"/>
              </a:rPr>
              <a:t>Проблема и цель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621792" y="987552"/>
            <a:ext cx="987552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5E6A75"/>
                </a:solidFill>
                <a:latin typeface="Aptos"/>
                <a:cs typeface="Aptos"/>
              </a:rPr>
              <a:t>Single-node SignalR ограничивает горизонтальное масштабирование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685800" y="1508760"/>
            <a:ext cx="534924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600" b="0">
                <a:solidFill>
                  <a:srgbClr val="18212B"/>
                </a:solidFill>
                <a:latin typeface="Aptos"/>
                <a:cs typeface="Aptos"/>
              </a:rPr>
              <a:t>Проблема</a:t>
            </a:r>
          </a:p>
          <a:p>
            <a:pPr algn="l"/>
            <a:r>
              <a:rPr lang="ru-RU" sz="16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600" b="0">
                <a:solidFill>
                  <a:srgbClr val="18212B"/>
                </a:solidFill>
                <a:latin typeface="Aptos"/>
                <a:cs typeface="Aptos"/>
              </a:rPr>
              <a:t>Сведения о подключениях и группах SignalR хранятся в памяти процесса.</a:t>
            </a:r>
          </a:p>
          <a:p>
            <a:pPr algn="l"/>
            <a:r>
              <a:rPr lang="ru-RU" sz="16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600" b="0">
                <a:solidFill>
                  <a:srgbClr val="18212B"/>
                </a:solidFill>
                <a:latin typeface="Aptos"/>
                <a:cs typeface="Aptos"/>
              </a:rPr>
              <a:t>При нескольких экземплярах backend событие, созданное на одном узле, не доходит до клиента, подключенного к другому узлу.</a:t>
            </a:r>
          </a:p>
          <a:p>
            <a:pPr algn="l"/>
            <a:r>
              <a:rPr lang="ru-RU" sz="16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600" b="0">
                <a:solidFill>
                  <a:srgbClr val="18212B"/>
                </a:solidFill>
                <a:latin typeface="Aptos"/>
                <a:cs typeface="Aptos"/>
              </a:rPr>
              <a:t>Real-time пространство фрагментируется на независимые острова.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6172200" y="1508760"/>
            <a:ext cx="5349240" cy="4206240"/>
          </a:xfrm>
          <a:prstGeom prst="roundRect">
            <a:avLst/>
          </a:prstGeom>
          <a:solidFill>
            <a:srgbClr val="E8F3F1"/>
          </a:solidFill>
          <a:ln w="12700">
            <a:solidFill>
              <a:srgbClr val="0B6E69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600" b="1">
                <a:solidFill>
                  <a:srgbClr val="18212B"/>
                </a:solidFill>
                <a:latin typeface="Aptos"/>
                <a:cs typeface="Aptos"/>
              </a:rPr>
              <a:t>Цель работы</a:t>
            </a:r>
          </a:p>
          <a:p>
            <a:pPr algn="l"/>
            <a:r>
              <a:rPr lang="ru-RU" sz="1600" b="1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600" b="1">
                <a:solidFill>
                  <a:srgbClr val="18212B"/>
                </a:solidFill>
                <a:latin typeface="Aptos"/>
                <a:cs typeface="Aptos"/>
              </a:rPr>
              <a:t>Real-time интерфейс системы отслеживания задач, в котором WebSocket-соединения обслуживаются несколькими экземплярами app-api, а события об изменении сущностей доставляются клиентам независимо от узла подключения.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Aptos"/>
                <a:cs typeface="Aptos"/>
              </a:rPr>
              <a:t>Real-time scale-out ·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8212B"/>
                </a:solidFill>
                <a:latin typeface="Aptos"/>
                <a:cs typeface="Aptos"/>
              </a:rPr>
              <a:t>Современный контекст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621792" y="987552"/>
            <a:ext cx="987552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5E6A75"/>
                </a:solidFill>
                <a:latin typeface="Aptos"/>
                <a:cs typeface="Aptos"/>
              </a:rPr>
              <a:t>Интерфейсы становятся событийными; AI-инструменты усиливают ожидание живой синхронизации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685800" y="1508760"/>
            <a:ext cx="3520440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>Рост сложности продуктов</a:t>
            </a:r>
          </a:p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>Пользователь работает не с одной формой, а с отчётом, багами, комментариями, вложениями, статусами и участниками.</a:t>
            </a:r>
          </a:p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>Изменения должны становиться видимыми без ручного обновления страницы.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4389120" y="1508760"/>
            <a:ext cx="3520440" cy="4343400"/>
          </a:xfrm>
          <a:prstGeom prst="roundRect">
            <a:avLst/>
          </a:prstGeom>
          <a:solidFill>
            <a:srgbClr val="FFF3D8"/>
          </a:solidFill>
          <a:ln w="12700">
            <a:solidFill>
              <a:srgbClr val="C76F2E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>AI-ready сценарии</a:t>
            </a:r>
          </a:p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>Фоновый сервис или ассистент может предложить исполнителя, дополнить описание, создать комментарий или изменить статус.</a:t>
            </a:r>
          </a:p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>В ВКР это контекст актуальности, а не заявление о готовой AI-функции.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8092440" y="1508760"/>
            <a:ext cx="3520440" cy="4343400"/>
          </a:xfrm>
          <a:prstGeom prst="roundRect">
            <a:avLst/>
          </a:prstGeom>
          <a:solidFill>
            <a:srgbClr val="E8F3F1"/>
          </a:solidFill>
          <a:ln w="12700">
            <a:solidFill>
              <a:srgbClr val="0B6E69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REST + real-time</a:t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HTTP-запрос фиксирует изменение состояния.</a:t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SignalR-событие распространяет изменение активным участникам, включая клиентов на других backend-узлах.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Aptos"/>
                <a:cs typeface="Aptos"/>
              </a:rPr>
              <a:t>Real-time scale-out ·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8212B"/>
                </a:solidFill>
                <a:latin typeface="Aptos"/>
                <a:cs typeface="Aptos"/>
              </a:rPr>
              <a:t>Предметная область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621792" y="987552"/>
            <a:ext cx="987552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5E6A75"/>
                </a:solidFill>
                <a:latin typeface="Aptos"/>
                <a:cs typeface="Aptos"/>
              </a:rPr>
              <a:t>Real-time связан с сущностями продукта, а не с абстрактным WebSocket-демо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685800" y="1508760"/>
            <a:ext cx="10972800" cy="685800"/>
          </a:xfrm>
          <a:prstGeom prst="roundRect">
            <a:avLst/>
          </a:prstGeom>
          <a:solidFill>
            <a:srgbClr val="E8F3F1"/>
          </a:solidFill>
          <a:ln w="12700">
            <a:solidFill>
              <a:srgbClr val="0B6E69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600" b="1">
                <a:solidFill>
                  <a:srgbClr val="18212B"/>
                </a:solidFill>
                <a:latin typeface="Aptos"/>
                <a:cs typeface="Aptos"/>
              </a:rPr>
              <a:t>Система отслеживания задач: отчёты · баги · комментарии · вложения · ссылки · шаги воспроизведения · статусы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685800" y="2468880"/>
            <a:ext cx="352044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Открытие отчёта</a:t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JoinReportGroupAsync</a:t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Клиент вступает в группу отчёта и получает только релевантные события.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4389120" y="2468880"/>
            <a:ext cx="352044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Изменение сущностей</a:t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ReceiveReportPatch</a:t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ReceiveBugCreate</a:t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ReceiveCommentUpdate</a:t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События применяются к состоянию интерфейса.</a:t>
            </a:r>
          </a:p>
        </p:txBody>
      </p:sp>
      <p:sp>
        <p:nvSpPr>
          <p:cNvPr id="23" name="Shape 23"/>
          <p:cNvSpPr txBox="1"/>
          <p:nvPr/>
        </p:nvSpPr>
        <p:spPr>
          <a:xfrm>
            <a:off x="8092440" y="2468880"/>
            <a:ext cx="352044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Восстановление</a:t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onreconnected</a:t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JoinReportGroupAsync</a:t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После reconnect клиент повторно восстанавливает подписку на текущий отчёт.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Aptos"/>
                <a:cs typeface="Aptos"/>
              </a:rPr>
              <a:t>Real-time scale-out ·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8212B"/>
                </a:solidFill>
                <a:latin typeface="Aptos"/>
                <a:cs typeface="Aptos"/>
              </a:rPr>
              <a:t>Анализ подходов к масштабированию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621792" y="987552"/>
            <a:ext cx="987552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5E6A75"/>
                </a:solidFill>
                <a:latin typeface="Aptos"/>
                <a:cs typeface="Aptos"/>
              </a:rPr>
              <a:t>Шесть рассмотренных вариантов; для реализации выбран подход 4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685800" y="1554480"/>
            <a:ext cx="36576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18212B"/>
                </a:solidFill>
                <a:latin typeface="Aptos"/>
                <a:cs typeface="Aptos"/>
              </a:rPr>
              <a:t>Один экземпляр backend</a:t>
            </a:r>
          </a:p>
          <a:p>
            <a:pPr algn="l"/>
            <a:r>
              <a:rPr lang="ru-RU" sz="1300" b="0">
                <a:solidFill>
                  <a:srgbClr val="18212B"/>
                </a:solidFill>
                <a:latin typeface="Aptos"/>
                <a:cs typeface="Aptos"/>
              </a:rPr>
              <a:t>Нет масштабирования; один узел — единственная точка отказа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4434840" y="1554480"/>
            <a:ext cx="36576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18212B"/>
                </a:solidFill>
                <a:latin typeface="Aptos"/>
                <a:cs typeface="Aptos"/>
              </a:rPr>
              <a:t>Несколько экземпляров без общего канала</a:t>
            </a:r>
          </a:p>
          <a:p>
            <a:pPr algn="l"/>
            <a:r>
              <a:rPr lang="ru-RU" sz="1300" b="0">
                <a:solidFill>
                  <a:srgbClr val="18212B"/>
                </a:solidFill>
                <a:latin typeface="Aptos"/>
                <a:cs typeface="Aptos"/>
              </a:rPr>
              <a:t>События не доходят до клиентов, подключённых к другим узлам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8183880" y="1554480"/>
            <a:ext cx="36576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18212B"/>
                </a:solidFill>
                <a:latin typeface="Aptos"/>
                <a:cs typeface="Aptos"/>
              </a:rPr>
              <a:t>Привязка клиента к узлу (sticky)</a:t>
            </a:r>
          </a:p>
          <a:p>
            <a:pPr algn="l"/>
            <a:r>
              <a:rPr lang="ru-RU" sz="1300" b="0">
                <a:solidFill>
                  <a:srgbClr val="18212B"/>
                </a:solidFill>
                <a:latin typeface="Aptos"/>
                <a:cs typeface="Aptos"/>
              </a:rPr>
              <a:t>Клиент остаётся на одном узле, но события на другие не приходят</a:t>
            </a:r>
          </a:p>
        </p:txBody>
      </p:sp>
      <p:sp>
        <p:nvSpPr>
          <p:cNvPr id="23" name="Shape 23"/>
          <p:cNvSpPr txBox="1"/>
          <p:nvPr/>
        </p:nvSpPr>
        <p:spPr>
          <a:xfrm>
            <a:off x="685800" y="3017520"/>
            <a:ext cx="36576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18212B"/>
                </a:solidFill>
                <a:latin typeface="Aptos"/>
                <a:cs typeface="Aptos"/>
              </a:rPr>
              <a:t>Внешняя шина событий</a:t>
            </a:r>
          </a:p>
          <a:p>
            <a:pPr algn="l"/>
            <a:r>
              <a:rPr lang="ru-RU" sz="1300" b="0">
                <a:solidFill>
                  <a:srgbClr val="18212B"/>
                </a:solidFill>
                <a:latin typeface="Aptos"/>
                <a:cs typeface="Aptos"/>
              </a:rPr>
              <a:t>Доставка между узлами есть, но требуется отдельная схема событий</a:t>
            </a:r>
          </a:p>
        </p:txBody>
      </p:sp>
      <p:sp>
        <p:nvSpPr>
          <p:cNvPr id="24" name="Shape 24"/>
          <p:cNvSpPr txBox="1"/>
          <p:nvPr/>
        </p:nvSpPr>
        <p:spPr>
          <a:xfrm>
            <a:off x="4434840" y="3017520"/>
            <a:ext cx="36576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18212B"/>
                </a:solidFill>
                <a:latin typeface="Aptos"/>
                <a:cs typeface="Aptos"/>
              </a:rPr>
              <a:t>Облачный real-time сервис</a:t>
            </a:r>
          </a:p>
          <a:p>
            <a:pPr algn="l"/>
            <a:r>
              <a:rPr lang="ru-RU" sz="1300" b="0">
                <a:solidFill>
                  <a:srgbClr val="18212B"/>
                </a:solidFill>
                <a:latin typeface="Aptos"/>
                <a:cs typeface="Aptos"/>
              </a:rPr>
              <a:t>Готовое решение, но снижает контроль над собственным контуром</a:t>
            </a:r>
          </a:p>
        </p:txBody>
      </p:sp>
      <p:sp>
        <p:nvSpPr>
          <p:cNvPr id="25" name="Shape 25"/>
          <p:cNvSpPr txBox="1"/>
          <p:nvPr/>
        </p:nvSpPr>
        <p:spPr>
          <a:xfrm>
            <a:off x="8183880" y="3017520"/>
            <a:ext cx="3657600" cy="1325880"/>
          </a:xfrm>
          <a:prstGeom prst="roundRect">
            <a:avLst/>
          </a:prstGeom>
          <a:solidFill>
            <a:srgbClr val="E8F3F1"/>
          </a:solidFill>
          <a:ln w="12700">
            <a:solidFill>
              <a:srgbClr val="0B6E69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1">
                <a:solidFill>
                  <a:srgbClr val="18212B"/>
                </a:solidFill>
                <a:latin typeface="Aptos"/>
                <a:cs typeface="Aptos"/>
              </a:rPr>
              <a:t>Redis backplane для SignalR — выбрано</a:t>
            </a:r>
          </a:p>
          <a:p>
            <a:pPr algn="l"/>
            <a:r>
              <a:rPr lang="ru-RU" sz="1300" b="1">
                <a:solidFill>
                  <a:srgbClr val="18212B"/>
                </a:solidFill>
                <a:latin typeface="Aptos"/>
                <a:cs typeface="Aptos"/>
              </a:rPr>
              <a:t>Штатный механизм, без перестройки кода, подходит для событий интерфейса</a:t>
            </a:r>
          </a:p>
        </p:txBody>
      </p:sp>
      <p:sp>
        <p:nvSpPr>
          <p:cNvPr id="26" name="Shape 26"/>
          <p:cNvSpPr txBox="1"/>
          <p:nvPr/>
        </p:nvSpPr>
        <p:spPr>
          <a:xfrm>
            <a:off x="685800" y="4617720"/>
            <a:ext cx="11155680" cy="128016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1200" b="0">
                <a:solidFill>
                  <a:srgbClr val="5E6A75"/>
                </a:solidFill>
                <a:latin typeface="Aptos"/>
                <a:cs typeface="Aptos"/>
              </a:rPr>
              <a:t>Критерии выбора: запускается на локальном стенде, сохраняет существующий код доставки событий, штатно поддерживается в ASP.NET Core SignalR, подходит для коротких событий интерфейса и легко воспроизводится.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Aptos"/>
                <a:cs typeface="Aptos"/>
              </a:rPr>
              <a:t>Real-time scale-out ·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8212B"/>
                </a:solidFill>
                <a:latin typeface="Aptos"/>
                <a:cs typeface="Aptos"/>
              </a:rPr>
              <a:t>Целевая архитектура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621792" y="987552"/>
            <a:ext cx="987552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5E6A75"/>
                </a:solidFill>
                <a:latin typeface="Aptos"/>
                <a:cs typeface="Aptos"/>
              </a:rPr>
              <a:t>Два экземпляра app-api за nginx, общий Redis backplane для межузловой доставки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914400" y="1874520"/>
            <a:ext cx="164592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Клиент A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914400" y="3749040"/>
            <a:ext cx="164592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Клиент B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3291840" y="2788920"/>
            <a:ext cx="1371600" cy="731520"/>
          </a:xfrm>
          <a:prstGeom prst="roundRect">
            <a:avLst/>
          </a:prstGeom>
          <a:solidFill>
            <a:srgbClr val="E8F3F1"/>
          </a:solidFill>
          <a:ln w="12700">
            <a:solidFill>
              <a:srgbClr val="0B6E69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nginx</a:t>
            </a:r>
          </a:p>
        </p:txBody>
      </p:sp>
      <p:sp>
        <p:nvSpPr>
          <p:cNvPr id="23" name="Shape 23"/>
          <p:cNvSpPr txBox="1"/>
          <p:nvPr/>
        </p:nvSpPr>
        <p:spPr>
          <a:xfrm>
            <a:off x="5577840" y="1874520"/>
            <a:ext cx="182880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6E69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app-api-1</a:t>
            </a:r>
          </a:p>
        </p:txBody>
      </p:sp>
      <p:sp>
        <p:nvSpPr>
          <p:cNvPr id="24" name="Shape 24"/>
          <p:cNvSpPr txBox="1"/>
          <p:nvPr/>
        </p:nvSpPr>
        <p:spPr>
          <a:xfrm>
            <a:off x="5577840" y="3749040"/>
            <a:ext cx="182880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6E69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app-api-2</a:t>
            </a:r>
          </a:p>
        </p:txBody>
      </p:sp>
      <p:sp>
        <p:nvSpPr>
          <p:cNvPr id="25" name="Shape 25"/>
          <p:cNvSpPr txBox="1"/>
          <p:nvPr/>
        </p:nvSpPr>
        <p:spPr>
          <a:xfrm>
            <a:off x="8321040" y="2788920"/>
            <a:ext cx="2194560" cy="731520"/>
          </a:xfrm>
          <a:prstGeom prst="roundRect">
            <a:avLst/>
          </a:prstGeom>
          <a:solidFill>
            <a:srgbClr val="E8F3F1"/>
          </a:solidFill>
          <a:ln w="12700">
            <a:solidFill>
              <a:srgbClr val="0B6E69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Redis backplane</a:t>
            </a:r>
          </a:p>
        </p:txBody>
      </p:sp>
      <p:cxnSp>
        <p:nvCxnSpPr>
          <p:cNvPr id="50" name="Connector 50"/>
          <p:cNvCxnSpPr/>
          <p:nvPr/>
        </p:nvCxnSpPr>
        <p:spPr>
          <a:xfrm flipH="0" flipV="0">
            <a:off x="2560320" y="2194560"/>
            <a:ext cx="731520" cy="795528"/>
          </a:xfrm>
          <a:prstGeom prst="straightConnector1">
            <a:avLst/>
          </a:prstGeom>
          <a:ln w="15875" cap="flat">
            <a:solidFill>
              <a:srgbClr val="0B6E69"/>
            </a:solidFill>
            <a:tailEnd type="triangle"/>
          </a:ln>
        </p:spPr>
      </p:cxnSp>
      <p:cxnSp>
        <p:nvCxnSpPr>
          <p:cNvPr id="51" name="Connector 51"/>
          <p:cNvCxnSpPr/>
          <p:nvPr/>
        </p:nvCxnSpPr>
        <p:spPr>
          <a:xfrm flipH="0" flipV="1">
            <a:off x="2560320" y="3319272"/>
            <a:ext cx="731520" cy="749808"/>
          </a:xfrm>
          <a:prstGeom prst="straightConnector1">
            <a:avLst/>
          </a:prstGeom>
          <a:ln w="15875" cap="flat">
            <a:solidFill>
              <a:srgbClr val="0B6E69"/>
            </a:solidFill>
            <a:tailEnd type="triangle"/>
          </a:ln>
        </p:spPr>
      </p:cxnSp>
      <p:cxnSp>
        <p:nvCxnSpPr>
          <p:cNvPr id="52" name="Connector 52"/>
          <p:cNvCxnSpPr/>
          <p:nvPr/>
        </p:nvCxnSpPr>
        <p:spPr>
          <a:xfrm flipH="0" flipV="1">
            <a:off x="4663440" y="2194560"/>
            <a:ext cx="914400" cy="795528"/>
          </a:xfrm>
          <a:prstGeom prst="straightConnector1">
            <a:avLst/>
          </a:prstGeom>
          <a:ln w="15875" cap="flat">
            <a:solidFill>
              <a:srgbClr val="0B6E69"/>
            </a:solidFill>
            <a:tailEnd type="triangle"/>
          </a:ln>
        </p:spPr>
      </p:cxnSp>
      <p:cxnSp>
        <p:nvCxnSpPr>
          <p:cNvPr id="53" name="Connector 53"/>
          <p:cNvCxnSpPr/>
          <p:nvPr/>
        </p:nvCxnSpPr>
        <p:spPr>
          <a:xfrm flipH="0" flipV="0">
            <a:off x="4663440" y="3319272"/>
            <a:ext cx="914400" cy="749808"/>
          </a:xfrm>
          <a:prstGeom prst="straightConnector1">
            <a:avLst/>
          </a:prstGeom>
          <a:ln w="15875" cap="flat">
            <a:solidFill>
              <a:srgbClr val="0B6E69"/>
            </a:solidFill>
            <a:tailEnd type="triangle"/>
          </a:ln>
        </p:spPr>
      </p:cxnSp>
      <p:cxnSp>
        <p:nvCxnSpPr>
          <p:cNvPr id="54" name="Connector 54"/>
          <p:cNvCxnSpPr/>
          <p:nvPr/>
        </p:nvCxnSpPr>
        <p:spPr>
          <a:xfrm flipH="0" flipV="0">
            <a:off x="7406640" y="2194560"/>
            <a:ext cx="914400" cy="795528"/>
          </a:xfrm>
          <a:prstGeom prst="straightConnector1">
            <a:avLst/>
          </a:prstGeom>
          <a:ln w="15875" cap="flat">
            <a:solidFill>
              <a:srgbClr val="0B6E69"/>
            </a:solidFill>
            <a:headEnd type="triangle"/>
            <a:tailEnd type="triangle"/>
          </a:ln>
        </p:spPr>
      </p:cxnSp>
      <p:cxnSp>
        <p:nvCxnSpPr>
          <p:cNvPr id="55" name="Connector 55"/>
          <p:cNvCxnSpPr/>
          <p:nvPr/>
        </p:nvCxnSpPr>
        <p:spPr>
          <a:xfrm flipH="0" flipV="1">
            <a:off x="7406640" y="3319272"/>
            <a:ext cx="914400" cy="749808"/>
          </a:xfrm>
          <a:prstGeom prst="straightConnector1">
            <a:avLst/>
          </a:prstGeom>
          <a:ln w="15875" cap="flat">
            <a:solidFill>
              <a:srgbClr val="0B6E69"/>
            </a:solidFill>
            <a:headEnd type="triangle"/>
            <a:tailEnd type="triangle"/>
          </a:ln>
        </p:spPr>
      </p:cxnSp>
      <p:sp>
        <p:nvSpPr>
          <p:cNvPr id="26" name="Shape 26"/>
          <p:cNvSpPr txBox="1"/>
          <p:nvPr/>
        </p:nvSpPr>
        <p:spPr>
          <a:xfrm>
            <a:off x="640080" y="4937760"/>
            <a:ext cx="10972800" cy="45720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1300" b="0">
                <a:solidFill>
                  <a:srgbClr val="5E6A75"/>
                </a:solidFill>
                <a:latin typeface="Aptos"/>
                <a:cs typeface="Aptos"/>
              </a:rPr>
              <a:t>Событие публикуется в Redis · доставляется обоим узлам · группы SignalR остаются локальным runtime-состоянием</a:t>
            </a:r>
          </a:p>
        </p:txBody>
      </p:sp>
      <p:sp>
        <p:nvSpPr>
          <p:cNvPr id="27" name="Shape 27"/>
          <p:cNvSpPr txBox="1"/>
          <p:nvPr/>
        </p:nvSpPr>
        <p:spPr>
          <a:xfrm>
            <a:off x="640080" y="5440680"/>
            <a:ext cx="10972800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1100" b="0">
                <a:solidFill>
                  <a:srgbClr val="5E6A75"/>
                </a:solidFill>
                <a:latin typeface="Aptos"/>
                <a:cs typeface="Aptos"/>
              </a:rPr>
              <a:t>Оба экземпляра подключены к общей PostgreSQL; на схеме показан только канал real-time-доставки.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Aptos"/>
                <a:cs typeface="Aptos"/>
              </a:rPr>
              <a:t>Real-time scale-out ·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8212B"/>
                </a:solidFill>
                <a:latin typeface="Aptos"/>
                <a:cs typeface="Aptos"/>
              </a:rPr>
              <a:t>Программная реализация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621792" y="987552"/>
            <a:ext cx="987552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5E6A75"/>
                </a:solidFill>
                <a:latin typeface="Aptos"/>
                <a:cs typeface="Aptos"/>
              </a:rPr>
              <a:t>Backend, frontend, тесты и проверочный клиент закрывают задачу как разработку ПО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685800" y="1508760"/>
            <a:ext cx="534924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>Backend</a:t>
            </a:r>
          </a:p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>AddStackExchangeRedis через REDIS_CONNECTION_STRING</a:t>
            </a:r>
          </a:p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>GetConnectionDiagnosticsAsync</a:t>
            </a:r>
          </a:p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>SendToGroupAsync с eventId и GroupExcept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6172200" y="1508760"/>
            <a:ext cx="534924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>Frontend</a:t>
            </a:r>
          </a:p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>WebSocket transport</a:t>
            </a:r>
          </a:p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>automatic reconnect</a:t>
            </a:r>
          </a:p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>повторный JoinReportGroupAsync после reconnect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685800" y="3703320"/>
            <a:ext cx="5349240" cy="1920240"/>
          </a:xfrm>
          <a:prstGeom prst="roundRect">
            <a:avLst/>
          </a:prstGeom>
          <a:solidFill>
            <a:srgbClr val="E8F3F1"/>
          </a:solidFill>
          <a:ln w="12700">
            <a:solidFill>
              <a:srgbClr val="0B6E69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Тесты</a:t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reconnectJoinHandler проверяет отсутствие лишнего join, повторное вступление и использование актуального reportId.</a:t>
            </a:r>
          </a:p>
        </p:txBody>
      </p:sp>
      <p:sp>
        <p:nvSpPr>
          <p:cNvPr id="23" name="Shape 23"/>
          <p:cNvSpPr txBox="1"/>
          <p:nvPr/>
        </p:nvSpPr>
        <p:spPr>
          <a:xfrm>
            <a:off x="6172200" y="3703320"/>
            <a:ext cx="5349240" cy="1920240"/>
          </a:xfrm>
          <a:prstGeom prst="roundRect">
            <a:avLst/>
          </a:prstGeom>
          <a:solidFill>
            <a:srgbClr val="E8F3F1"/>
          </a:solidFill>
          <a:ln w="12700">
            <a:solidFill>
              <a:srgbClr val="0B6E69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Проверочный клиент</a:t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delivery · rejoin · failover · series</a:t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Фиксирует serverInstanceId, connectionId, событие и задержку.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Aptos"/>
                <a:cs typeface="Aptos"/>
              </a:rPr>
              <a:t>Real-time scale-out ·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8212B"/>
                </a:solidFill>
                <a:latin typeface="Aptos"/>
                <a:cs typeface="Aptos"/>
              </a:rPr>
              <a:t>Программа испытаний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621792" y="987552"/>
            <a:ext cx="987552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5E6A75"/>
                </a:solidFill>
                <a:latin typeface="Aptos"/>
                <a:cs typeface="Aptos"/>
              </a:rPr>
              <a:t>Два режима по одному коду · четыре сценария проверки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685800" y="1554480"/>
            <a:ext cx="5349240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Два режима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• Без межузлового канала — воспроизведение проблемы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• С межузловым каналом — проверка решения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Один и тот же код, один и тот же сценарий; отличие — наличие Redis backplane.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6172200" y="1554480"/>
            <a:ext cx="5349240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Четыре сценария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• Одиночная доставка между узлами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• Серия из 30 итераций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• Восстановление подписки после разрыва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• Переключение на другой узел после отказа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Aptos"/>
                <a:cs typeface="Aptos"/>
              </a:rPr>
              <a:t>Real-time scale-out ·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8212B"/>
                </a:solidFill>
                <a:latin typeface="Aptos"/>
                <a:cs typeface="Aptos"/>
              </a:rPr>
              <a:t>Главный результат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621792" y="987552"/>
            <a:ext cx="987552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5E6A75"/>
                </a:solidFill>
                <a:latin typeface="Aptos"/>
                <a:cs typeface="Aptos"/>
              </a:rPr>
              <a:t>Один код и один сценарий — разница только в наличии Redis-канала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685800" y="1554480"/>
            <a:ext cx="5349240" cy="3291840"/>
          </a:xfrm>
          <a:prstGeom prst="roundRect">
            <a:avLst/>
          </a:prstGeom>
          <a:solidFill>
            <a:srgbClr val="FFF3D8"/>
          </a:solidFill>
          <a:ln w="12700">
            <a:solidFill>
              <a:srgbClr val="C76F2E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800" b="1">
                <a:solidFill>
                  <a:srgbClr val="18212B"/>
                </a:solidFill>
                <a:latin typeface="Aptos"/>
                <a:cs typeface="Aptos"/>
              </a:rPr>
              <a:t>Без backplane</a:t>
            </a:r>
          </a:p>
          <a:p>
            <a:pPr algn="ctr"/>
            <a:r>
              <a:rPr lang="ru-RU" sz="1800" b="1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ctr"/>
            <a:r>
              <a:rPr lang="ru-RU" sz="1800" b="1">
                <a:solidFill>
                  <a:srgbClr val="18212B"/>
                </a:solidFill>
                <a:latin typeface="Aptos"/>
                <a:cs typeface="Aptos"/>
              </a:rPr>
              <a:t>ReceiveReportPatch</a:t>
            </a:r>
          </a:p>
          <a:p>
            <a:pPr algn="ctr"/>
            <a:r>
              <a:rPr lang="ru-RU" sz="1800" b="1">
                <a:solidFill>
                  <a:srgbClr val="18212B"/>
                </a:solidFill>
                <a:latin typeface="Aptos"/>
                <a:cs typeface="Aptos"/>
              </a:rPr>
              <a:t>timed out · 10 000 мс</a:t>
            </a:r>
          </a:p>
          <a:p>
            <a:pPr algn="ctr"/>
            <a:r>
              <a:rPr lang="ru-RU" sz="1800" b="1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ctr"/>
            <a:r>
              <a:rPr lang="ru-RU" sz="1800" b="1">
                <a:solidFill>
                  <a:srgbClr val="18212B"/>
                </a:solidFill>
                <a:latin typeface="Aptos"/>
                <a:cs typeface="Aptos"/>
              </a:rPr>
              <a:t>Событие, созданное на app-api-1, не дошло до клиента на app-api-2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6172200" y="1554480"/>
            <a:ext cx="5349240" cy="3291840"/>
          </a:xfrm>
          <a:prstGeom prst="roundRect">
            <a:avLst/>
          </a:prstGeom>
          <a:solidFill>
            <a:srgbClr val="E8F3F1"/>
          </a:solidFill>
          <a:ln w="12700">
            <a:solidFill>
              <a:srgbClr val="0B6E69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800" b="1">
                <a:solidFill>
                  <a:srgbClr val="18212B"/>
                </a:solidFill>
                <a:latin typeface="Aptos"/>
                <a:cs typeface="Aptos"/>
              </a:rPr>
              <a:t>С backplane</a:t>
            </a:r>
          </a:p>
          <a:p>
            <a:pPr algn="ctr"/>
            <a:r>
              <a:rPr lang="ru-RU" sz="1800" b="1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ctr"/>
            <a:r>
              <a:rPr lang="ru-RU" sz="1800" b="1">
                <a:solidFill>
                  <a:srgbClr val="18212B"/>
                </a:solidFill>
                <a:latin typeface="Aptos"/>
                <a:cs typeface="Aptos"/>
              </a:rPr>
              <a:t>ok: true · ReceiveReportPatch получен</a:t>
            </a:r>
          </a:p>
          <a:p>
            <a:pPr algn="ctr"/>
            <a:r>
              <a:rPr lang="ru-RU" sz="1800" b="1">
                <a:solidFill>
                  <a:srgbClr val="18212B"/>
                </a:solidFill>
                <a:latin typeface="Aptos"/>
                <a:cs typeface="Aptos"/>
              </a:rPr>
              <a:t>deliveryLatencyMs ≈ 9,5 мс</a:t>
            </a:r>
          </a:p>
          <a:p>
            <a:pPr algn="ctr"/>
            <a:r>
              <a:rPr lang="ru-RU" sz="1800" b="1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ctr"/>
            <a:r>
              <a:rPr lang="ru-RU" sz="1800" b="1">
                <a:solidFill>
                  <a:srgbClr val="18212B"/>
                </a:solidFill>
                <a:latin typeface="Aptos"/>
                <a:cs typeface="Aptos"/>
              </a:rPr>
              <a:t>Клиент на app-api-2 получил событие с app-api-1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685800" y="5074920"/>
            <a:ext cx="10835640" cy="7772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1300" b="0">
                <a:solidFill>
                  <a:srgbClr val="5E6A75"/>
                </a:solidFill>
                <a:latin typeface="Aptos"/>
                <a:cs typeface="Aptos"/>
              </a:rPr>
              <a:t>Сопоставление двух режимов на одном стенде показывает причинную связь между включением межузлового канала SignalR и успешной доставкой события.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Aptos"/>
                <a:cs typeface="Aptos"/>
              </a:rPr>
              <a:t>Real-time scale-out ·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8212B"/>
                </a:solidFill>
                <a:latin typeface="Aptos"/>
                <a:cs typeface="Aptos"/>
              </a:rPr>
              <a:t>Дополнительные проверки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621792" y="987552"/>
            <a:ext cx="987552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5E6A75"/>
                </a:solidFill>
                <a:latin typeface="Aptos"/>
                <a:cs typeface="Aptos"/>
              </a:rPr>
              <a:t>Повторяемость, восстановление подписки и переключение после отказа узла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685800" y="1600200"/>
            <a:ext cx="365760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Серия из 30 итераций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Успешно: 30 из 30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min 3,8 мс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avg 7,2 мс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p50 6,1 мс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p95 13,8 мс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Подтверждена повторяемость доставки.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4434840" y="1600200"/>
            <a:ext cx="365760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Восстановление подписки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После разрыва клиент создаёт новое соединение и снова вступает в группу отчёта.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переподключение 6,5 мс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доставка 15,2 мс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Подтверждена повторная подписка.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8183880" y="1600200"/>
            <a:ext cx="365760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Переключение после отказа узла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Один backend остановлен; nginx переключает клиента на другой экземпляр.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переподключение 352,0 мс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доставка 5,4 мс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Подтверждено восстановление после отказа.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Aptos"/>
                <a:cs typeface="Aptos"/>
              </a:rPr>
              <a:t>Real-time scale-out ·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8212B"/>
                </a:solidFill>
                <a:latin typeface="Aptos"/>
                <a:cs typeface="Aptos"/>
              </a:rPr>
              <a:t>Ограничения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621792" y="987552"/>
            <a:ext cx="987552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5E6A75"/>
                </a:solidFill>
                <a:latin typeface="Aptos"/>
                <a:cs typeface="Aptos"/>
              </a:rPr>
              <a:t>Решение предназначено для интерфейсной синхронизации, а не для жёсткого real-time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685800" y="1508760"/>
            <a:ext cx="3520440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>Ненулевая задержка</a:t>
            </a:r>
          </a:p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>Событие проходит через app-api, Redis backplane и другой app-api.</a:t>
            </a:r>
          </a:p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>В локальной серии: avg 7,2 мс, p95 13,8 мс.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4389120" y="1508760"/>
            <a:ext cx="3520440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>Transient UI-events</a:t>
            </a:r>
          </a:p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>Источник истины — PostgreSQL.</a:t>
            </a:r>
          </a:p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>При сомнениях клиент восстанавливает согласованность повторным HTTP-запросом состояния.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8092440" y="1508760"/>
            <a:ext cx="3520440" cy="4343400"/>
          </a:xfrm>
          <a:prstGeom prst="roundRect">
            <a:avLst/>
          </a:prstGeom>
          <a:solidFill>
            <a:srgbClr val="FFF3D8"/>
          </a:solidFill>
          <a:ln w="12700">
            <a:solidFill>
              <a:srgbClr val="C76F2E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Дальнейшее развитие</a:t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Durable broker/event log</a:t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версии сущностей</a:t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optimistic concurrency</a:t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outbox/inbox</a:t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повторная синхронизация по версии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Aptos"/>
                <a:cs typeface="Aptos"/>
              </a:rPr>
              <a:t>Real-time scale-out ·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8212B"/>
                </a:solidFill>
                <a:latin typeface="Aptos"/>
                <a:cs typeface="Aptos"/>
              </a:rPr>
              <a:t>Вывод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685800" y="1554480"/>
            <a:ext cx="10835640" cy="1280160"/>
          </a:xfrm>
          <a:prstGeom prst="roundRect">
            <a:avLst/>
          </a:prstGeom>
          <a:solidFill>
            <a:srgbClr val="E8F3F1"/>
          </a:solidFill>
          <a:ln w="12700">
            <a:solidFill>
              <a:srgbClr val="0B6E69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700" b="1">
                <a:solidFill>
                  <a:srgbClr val="18212B"/>
                </a:solidFill>
                <a:latin typeface="Aptos"/>
                <a:cs typeface="Aptos"/>
              </a:rPr>
              <a:t>Ограничение single-node WebSocket-архитектуры устранено за счёт распределённого real-time контура; тезис работы подтверждён экспериментально.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685800" y="2971800"/>
            <a:ext cx="10835640" cy="1417320"/>
          </a:xfrm>
          <a:prstGeom prst="roundRect">
            <a:avLst/>
          </a:prstGeom>
          <a:solidFill>
            <a:srgbClr val="FFF3D8"/>
          </a:solidFill>
          <a:ln w="12700">
            <a:solidFill>
              <a:srgbClr val="C76F2E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500" b="1">
                <a:solidFill>
                  <a:srgbClr val="18212B"/>
                </a:solidFill>
                <a:latin typeface="Aptos"/>
                <a:cs typeface="Aptos"/>
              </a:rPr>
              <a:t>Дополнительный эффект — повышение отказоустойчивости: при отказе одного узла клиенты продолжают получать события через другой экземпляр backend, тогда как single-node архитектура такой возможности не предоставляет.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685800" y="4572000"/>
            <a:ext cx="352044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1">
                <a:solidFill>
                  <a:srgbClr val="18212B"/>
                </a:solidFill>
                <a:latin typeface="Aptos"/>
                <a:cs typeface="Aptos"/>
              </a:rPr>
              <a:t>Проблема</a:t>
            </a:r>
          </a:p>
          <a:p>
            <a:pPr algn="l"/>
            <a:r>
              <a:rPr lang="ru-RU" sz="1300" b="1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300" b="1">
                <a:solidFill>
                  <a:srgbClr val="18212B"/>
                </a:solidFill>
                <a:latin typeface="Aptos"/>
                <a:cs typeface="Aptos"/>
              </a:rPr>
              <a:t>Single-node SignalR: события не пересекают границу узла.</a:t>
            </a:r>
          </a:p>
        </p:txBody>
      </p:sp>
      <p:sp>
        <p:nvSpPr>
          <p:cNvPr id="23" name="Shape 23"/>
          <p:cNvSpPr txBox="1"/>
          <p:nvPr/>
        </p:nvSpPr>
        <p:spPr>
          <a:xfrm>
            <a:off x="4343400" y="4572000"/>
            <a:ext cx="352044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1">
                <a:solidFill>
                  <a:srgbClr val="18212B"/>
                </a:solidFill>
                <a:latin typeface="Aptos"/>
                <a:cs typeface="Aptos"/>
              </a:rPr>
              <a:t>Решение</a:t>
            </a:r>
          </a:p>
          <a:p>
            <a:pPr algn="l"/>
            <a:r>
              <a:rPr lang="ru-RU" sz="1300" b="1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300" b="1">
                <a:solidFill>
                  <a:srgbClr val="18212B"/>
                </a:solidFill>
                <a:latin typeface="Aptos"/>
                <a:cs typeface="Aptos"/>
              </a:rPr>
              <a:t>Несколько экземпляров backend за nginx + Redis backplane; общий код, переключение режима — переменной окружения.</a:t>
            </a:r>
          </a:p>
        </p:txBody>
      </p:sp>
      <p:sp>
        <p:nvSpPr>
          <p:cNvPr id="24" name="Shape 24"/>
          <p:cNvSpPr txBox="1"/>
          <p:nvPr/>
        </p:nvSpPr>
        <p:spPr>
          <a:xfrm>
            <a:off x="8001000" y="4572000"/>
            <a:ext cx="352044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1">
                <a:solidFill>
                  <a:srgbClr val="18212B"/>
                </a:solidFill>
                <a:latin typeface="Aptos"/>
                <a:cs typeface="Aptos"/>
              </a:rPr>
              <a:t>Доказательство</a:t>
            </a:r>
          </a:p>
          <a:p>
            <a:pPr algn="l"/>
            <a:r>
              <a:rPr lang="ru-RU" sz="1300" b="1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300" b="1">
                <a:solidFill>
                  <a:srgbClr val="18212B"/>
                </a:solidFill>
                <a:latin typeface="Aptos"/>
                <a:cs typeface="Aptos"/>
              </a:rPr>
              <a:t>Доставка (без / с) · серия · восстановление подписки · переключение после отказа.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Aptos"/>
                <a:cs typeface="Aptos"/>
              </a:rPr>
              <a:t>Real-time scale-out ·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KR">
  <a:themeElements>
    <a:clrScheme name="VKR">
      <a:dk1>
        <a:srgbClr val="18212B"/>
      </a:dk1>
      <a:lt1>
        <a:srgbClr val="F6F3EC"/>
      </a:lt1>
      <a:dk2>
        <a:srgbClr val="293241"/>
      </a:dk2>
      <a:lt2>
        <a:srgbClr val="FFFFFF"/>
      </a:lt2>
      <a:accent1>
        <a:srgbClr val="0B6E69"/>
      </a:accent1>
      <a:accent2>
        <a:srgbClr val="C76F2E"/>
      </a:accent2>
      <a:accent3>
        <a:srgbClr val="E8F3F1"/>
      </a:accent3>
      <a:accent4>
        <a:srgbClr val="FFF3D8"/>
      </a:accent4>
      <a:accent5>
        <a:srgbClr val="5E6A75"/>
      </a:accent5>
      <a:accent6>
        <a:srgbClr val="D7D2C7"/>
      </a:accent6>
      <a:hlink>
        <a:srgbClr val="0B6E69"/>
      </a:hlink>
      <a:folHlink>
        <a:srgbClr val="0B6E69"/>
      </a:folHlink>
    </a:clrScheme>
    <a:fontScheme name="Aptos">
      <a:majorFont>
        <a:latin typeface="Aptos"/>
      </a:majorFont>
      <a:minorFont>
        <a:latin typeface="Aptos"/>
      </a:minorFont>
    </a:fontScheme>
    <a:fmtScheme name="VKR">
      <a:fillStyleLst/>
      <a:lnStyleLst/>
      <a:effectStyleLst/>
      <a:bgFillStyleLst/>
    </a:fmtScheme>
  </a:themeElements>
</a:theme>
</file>

<file path=docProps/app.xml><?xml version="1.0" encoding="utf-8"?>
<Properties xmlns="http://schemas.openxmlformats.org/officeDocument/2006/extended-properties">
  <Application>Codex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ВКР real-time scale-out</dc:title>
  <dc:creator>Codex</dc:creator>
</cp:coreProperties>
</file>