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 <Relationship Id="rId18" Type="http://schemas.openxmlformats.org/officeDocument/2006/relationships/slide" Target="slides/slide17.xml"/> <Relationship Id="rId19" Type="http://schemas.openxmlformats.org/officeDocument/2006/relationships/slide" Target="slides/slide18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dashboard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  <Relationship Id="rId2" Type="http://schemas.openxmlformats.org/officeDocument/2006/relationships/image" Target="../media/interface-report-page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1325880"/>
            <a:ext cx="1088136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2600" b="1">
                <a:solidFill>
                  <a:srgbClr val="1A2730"/>
                </a:solidFill>
                <a:latin typeface="Verdana"/>
                <a:cs typeface="Verdana"/>
              </a:rPr>
              <a:t>Разработка real-time интерфейса с поддержкой горизонтального масштабирования WebSocket-соединений для системы отслеживания задач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94360" y="324612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600" b="0">
                <a:solidFill>
                  <a:srgbClr val="5E6A75"/>
                </a:solidFill>
                <a:latin typeface="Verdana"/>
                <a:cs typeface="Verdana"/>
              </a:rPr>
              <a:t>Защита выпускной квалификационной работы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94360" y="42976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Студент: Зайцев А. С., группа 4131з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94360" y="475488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Руководитель: канд. техн. наук, доцент А. В. Фомин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94360" y="5486400"/>
            <a:ext cx="108813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5E6A75"/>
                </a:solidFill>
                <a:latin typeface="Verdana"/>
                <a:cs typeface="Verdana"/>
              </a:rPr>
              <a:t>Санкт-Петербург, 2026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Где живёт продукт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У команды есть привычный процесс. Продукт помогает на этапе тестирования.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783080"/>
            <a:ext cx="23774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Аналитика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3246120" y="1783080"/>
            <a:ext cx="23774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Разработка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5806440" y="1783080"/>
            <a:ext cx="2377440" cy="8686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A2730"/>
                </a:solidFill>
                <a:latin typeface="Verdana"/>
                <a:cs typeface="Verdana"/>
              </a:rPr>
              <a:t>Тестирование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8366760" y="1783080"/>
            <a:ext cx="237744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1A2730"/>
                </a:solidFill>
                <a:latin typeface="Verdana"/>
                <a:cs typeface="Verdana"/>
              </a:rPr>
              <a:t>Деплой</a:t>
            </a:r>
          </a:p>
        </p:txBody>
      </p:sp>
      <p:cxnSp>
        <p:nvCxnSpPr>
          <p:cNvPr id="40" name="Connector 40"/>
          <p:cNvCxnSpPr/>
          <p:nvPr/>
        </p:nvCxnSpPr>
        <p:spPr>
          <a:xfrm flipH="0" flipV="0">
            <a:off x="3063240" y="2212848"/>
            <a:ext cx="18288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41" name="Connector 41"/>
          <p:cNvCxnSpPr/>
          <p:nvPr/>
        </p:nvCxnSpPr>
        <p:spPr>
          <a:xfrm flipH="0" flipV="0">
            <a:off x="5623560" y="2212848"/>
            <a:ext cx="18288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42" name="Connector 42"/>
          <p:cNvCxnSpPr/>
          <p:nvPr/>
        </p:nvCxnSpPr>
        <p:spPr>
          <a:xfrm flipH="0" flipV="0">
            <a:off x="8183880" y="2212848"/>
            <a:ext cx="182880" cy="9144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sp>
        <p:nvSpPr>
          <p:cNvPr id="30" name="Shape 30"/>
          <p:cNvSpPr txBox="1"/>
          <p:nvPr/>
        </p:nvSpPr>
        <p:spPr>
          <a:xfrm>
            <a:off x="685800" y="3200400"/>
            <a:ext cx="10835640" cy="14173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A2730"/>
                </a:solidFill>
                <a:latin typeface="Verdana"/>
                <a:cs typeface="Verdana"/>
              </a:rPr>
              <a:t>Продукт — система отслеживания задач и багов.</a:t>
            </a:r>
          </a:p>
        </p:txBody>
      </p:sp>
      <p:sp>
        <p:nvSpPr>
          <p:cNvPr id="31" name="Shape 31"/>
          <p:cNvSpPr txBox="1"/>
          <p:nvPr/>
        </p:nvSpPr>
        <p:spPr>
          <a:xfrm>
            <a:off x="685800" y="3931920"/>
            <a:ext cx="1083564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0">
                <a:solidFill>
                  <a:srgbClr val="5E6A75"/>
                </a:solidFill>
                <a:latin typeface="Verdana"/>
                <a:cs typeface="Verdana"/>
              </a:rPr>
              <a:t>В одном отчёте встречаются тестировщик, разработчик и ответственный: заводят баг, уточняют шаги, меняют статус.</a:t>
            </a:r>
          </a:p>
        </p:txBody>
      </p:sp>
      <p:sp>
        <p:nvSpPr>
          <p:cNvPr id="32" name="Shape 32"/>
          <p:cNvSpPr txBox="1"/>
          <p:nvPr/>
        </p:nvSpPr>
        <p:spPr>
          <a:xfrm>
            <a:off x="685800" y="5074920"/>
            <a:ext cx="10835640" cy="9144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A2730"/>
                </a:solidFill>
                <a:latin typeface="Verdana"/>
                <a:cs typeface="Verdana"/>
              </a:rPr>
              <a:t>Они работают с одним отчётом одновременно — значит, изменения должны быть видны сразу, без перезагрузки страницы.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Целевой продукт: дашборд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Список отчётов команды, статусы, ответственные и активность по задачам (рис. 1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E3E7EB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Целевой продукт: страница отчёта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Основной рабочий экран: отчёт, баги, шаги воспроизведения, комментарии, участники (рис. 2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1078992" y="1353312"/>
            <a:ext cx="10003536" cy="5047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2C7"/>
            </a:solidFill>
          </a:ln>
        </p:spPr>
        <p:txBody>
          <a:bodyPr wrap="square" lIns="177800" tIns="177800" rIns="177800" bIns="177800"/>
          <a:lstStyle/>
          <a:p/>
        </p:txBody>
      </p:sp>
      <p:pic>
        <p:nvPicPr>
          <p:cNvPr id="21" name="interface-report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9875520" cy="4992624"/>
          </a:xfrm>
          <a:prstGeom prst="rect">
            <a:avLst/>
          </a:prstGeom>
          <a:ln w="12700">
            <a:solidFill>
              <a:srgbClr val="E3E7EB"/>
            </a:solidFill>
          </a:ln>
        </p:spPr>
      </p:pic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Почему это актуально сейчас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Интерфейсы переходят от статичных CRUD-экранов к событийным рабочим пространствам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108356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Продукты усложняются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Пользователь работает не с одной формой, а с отчётом, багами, статусами и участниками одновременно.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017520"/>
            <a:ext cx="10835640" cy="123444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AI-инструменты усиливают ожидание обновлений в реальном времени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Ассистент может сам создать комментарий, изменить статус, предложить исполнителя.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434840"/>
            <a:ext cx="10835640" cy="13258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Real-time — это инженерная характеристика, а не «фича»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Строить его нужно для нескольких экземпляров серверного сервиса, а не только для одного.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5897880"/>
            <a:ext cx="108356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AI-функциональность не утверждается как реализованная — это контекст актуальности.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В чём проблема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Исходный контур реального времени не масштабируется и не отказоустойчив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417320"/>
            <a:ext cx="5349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Не масштабируется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Все клиенты обслуживаются одним серверным процессом. Рост числа пользователей и долгих соединений упирается в один экземпляр; разгрузить второй сервер нельзя.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417320"/>
            <a:ext cx="53492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Не отказоустойчив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Этот единственный процесс — единая точка отказа. При его остановке обновления в реальном времени у всех участников прекращаются, перезапуск приводит к перерыву в работе.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3886200"/>
            <a:ext cx="10835640" cy="14173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A2730"/>
                </a:solidFill>
                <a:latin typeface="Verdana"/>
                <a:cs typeface="Verdana"/>
              </a:rPr>
              <a:t>Если просто запустить второй экземпляр, проблема не решается, а смещается: событие, созданное на одном узле, не доходит до клиентов, подключённых ко второму. Совместная работа над отчётом ломается.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85800" y="5486400"/>
            <a:ext cx="10835640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Технически: сведения о подключениях и группах SignalR хранятся в памяти конкретного серверного процесса, поэтому без межузлового канала общее пространство синхронизации фрагментируется.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Цель работы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Сделать real-time масштабируемым и отказоустойчивым — с доработкой на всех слоях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10835640" cy="13258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500" b="1">
                <a:solidFill>
                  <a:srgbClr val="1A2730"/>
                </a:solidFill>
                <a:latin typeface="Verdana"/>
                <a:cs typeface="Verdana"/>
              </a:rPr>
              <a:t>Перейти от одноузловой схемы реального времени к распределённому контуру: несколько экземпляров серверного сервиса обслуживают подключения, события об изменении сущностей доставляются всем участникам независимо от узла подключения.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017520"/>
            <a:ext cx="26060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1. Проектирование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Архитектура распределённой доставки, поток события и границы решения.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456432" y="3017520"/>
            <a:ext cx="26060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2. Серверная часть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Диагностика узла, единая точка отправки событий, конфигурируемое подключение общего канала.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217920" y="3017520"/>
            <a:ext cx="2606040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3. Клиентская часть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Восстановление соединения, повторная подписка на отчёт после обрыва, диагностические данные.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979408" y="3017520"/>
            <a:ext cx="2606040" cy="3017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4. Инфраструктура и испытания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Воспроизводимый стенд из двух экземпляров и общей точки входа; программа испытаний и оценка.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Сравнение подходов к масштабированию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Шесть рассмотренных вариантов — выбран четвёртый (§1.4, таблица 1.4 ВКР)</a:t>
            </a:r>
          </a:p>
        </p:txBody>
      </p:sp>
      <p:sp>
        <p:nvSpPr>
          <p:cNvPr id="80" name="Shape 80"/>
          <p:cNvSpPr txBox="1"/>
          <p:nvPr/>
        </p:nvSpPr>
        <p:spPr>
          <a:xfrm>
            <a:off x="502920" y="1417320"/>
            <a:ext cx="58521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Подход</a:t>
            </a:r>
          </a:p>
        </p:txBody>
      </p:sp>
      <p:sp>
        <p:nvSpPr>
          <p:cNvPr id="81" name="Shape 81"/>
          <p:cNvSpPr txBox="1"/>
          <p:nvPr/>
        </p:nvSpPr>
        <p:spPr>
          <a:xfrm>
            <a:off x="6446520" y="1417320"/>
            <a:ext cx="128016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50800" tIns="50800" rIns="50800" bIns="50800"/>
          <a:lstStyle/>
          <a:p>
            <a:pPr algn="ctr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Доставка</a:t>
            </a:r>
          </a:p>
        </p:txBody>
      </p:sp>
      <p:sp>
        <p:nvSpPr>
          <p:cNvPr id="82" name="Shape 82"/>
          <p:cNvSpPr txBox="1"/>
          <p:nvPr/>
        </p:nvSpPr>
        <p:spPr>
          <a:xfrm>
            <a:off x="7818120" y="1417320"/>
            <a:ext cx="393192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Ограничение</a:t>
            </a:r>
          </a:p>
        </p:txBody>
      </p:sp>
      <p:sp>
        <p:nvSpPr>
          <p:cNvPr id="100" name="Shape 100"/>
          <p:cNvSpPr txBox="1"/>
          <p:nvPr/>
        </p:nvSpPr>
        <p:spPr>
          <a:xfrm>
            <a:off x="502920" y="1828800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1.  Один экземпляр серверного сервиса</a:t>
            </a:r>
          </a:p>
        </p:txBody>
      </p:sp>
      <p:sp>
        <p:nvSpPr>
          <p:cNvPr id="101" name="Shape 101"/>
          <p:cNvSpPr txBox="1"/>
          <p:nvPr/>
        </p:nvSpPr>
        <p:spPr>
          <a:xfrm>
            <a:off x="6446520" y="1828800"/>
            <a:ext cx="12801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102" name="Shape 102"/>
          <p:cNvSpPr txBox="1"/>
          <p:nvPr/>
        </p:nvSpPr>
        <p:spPr>
          <a:xfrm>
            <a:off x="7818120" y="1828800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Только ранний прототип</a:t>
            </a:r>
          </a:p>
        </p:txBody>
      </p:sp>
      <p:sp>
        <p:nvSpPr>
          <p:cNvPr id="110" name="Shape 110"/>
          <p:cNvSpPr txBox="1"/>
          <p:nvPr/>
        </p:nvSpPr>
        <p:spPr>
          <a:xfrm>
            <a:off x="502920" y="2542032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2.  Несколько экземпляров без общего канала</a:t>
            </a:r>
          </a:p>
        </p:txBody>
      </p:sp>
      <p:sp>
        <p:nvSpPr>
          <p:cNvPr id="111" name="Shape 111"/>
          <p:cNvSpPr txBox="1"/>
          <p:nvPr/>
        </p:nvSpPr>
        <p:spPr>
          <a:xfrm>
            <a:off x="6446520" y="2542032"/>
            <a:ext cx="12801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112" name="Shape 112"/>
          <p:cNvSpPr txBox="1"/>
          <p:nvPr/>
        </p:nvSpPr>
        <p:spPr>
          <a:xfrm>
            <a:off x="7818120" y="2542032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Локальные группы фрагментируются</a:t>
            </a:r>
          </a:p>
        </p:txBody>
      </p:sp>
      <p:sp>
        <p:nvSpPr>
          <p:cNvPr id="120" name="Shape 120"/>
          <p:cNvSpPr txBox="1"/>
          <p:nvPr/>
        </p:nvSpPr>
        <p:spPr>
          <a:xfrm>
            <a:off x="502920" y="3255264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3.  Закрепление клиента за узлом</a:t>
            </a:r>
          </a:p>
        </p:txBody>
      </p:sp>
      <p:sp>
        <p:nvSpPr>
          <p:cNvPr id="121" name="Shape 121"/>
          <p:cNvSpPr txBox="1"/>
          <p:nvPr/>
        </p:nvSpPr>
        <p:spPr>
          <a:xfrm>
            <a:off x="6446520" y="3255264"/>
            <a:ext cx="12801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122" name="Shape 122"/>
          <p:cNvSpPr txBox="1"/>
          <p:nvPr/>
        </p:nvSpPr>
        <p:spPr>
          <a:xfrm>
            <a:off x="7818120" y="3255264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Не доставляет события другим узлам</a:t>
            </a:r>
          </a:p>
        </p:txBody>
      </p:sp>
      <p:sp>
        <p:nvSpPr>
          <p:cNvPr id="130" name="Shape 130"/>
          <p:cNvSpPr txBox="1"/>
          <p:nvPr/>
        </p:nvSpPr>
        <p:spPr>
          <a:xfrm>
            <a:off x="502920" y="3968496"/>
            <a:ext cx="585216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4.  Redis backplane для SignalR — выбрано</a:t>
            </a:r>
          </a:p>
        </p:txBody>
      </p:sp>
      <p:sp>
        <p:nvSpPr>
          <p:cNvPr id="131" name="Shape 131"/>
          <p:cNvSpPr txBox="1"/>
          <p:nvPr/>
        </p:nvSpPr>
        <p:spPr>
          <a:xfrm>
            <a:off x="6446520" y="3968496"/>
            <a:ext cx="128016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132" name="Shape 132"/>
          <p:cNvSpPr txBox="1"/>
          <p:nvPr/>
        </p:nvSpPr>
        <p:spPr>
          <a:xfrm>
            <a:off x="7818120" y="3968496"/>
            <a:ext cx="393192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Сохраняет SignalR-группы, локальный стенд</a:t>
            </a:r>
          </a:p>
        </p:txBody>
      </p:sp>
      <p:sp>
        <p:nvSpPr>
          <p:cNvPr id="140" name="Shape 140"/>
          <p:cNvSpPr txBox="1"/>
          <p:nvPr/>
        </p:nvSpPr>
        <p:spPr>
          <a:xfrm>
            <a:off x="502920" y="4773168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5.  Брокер сообщений или шина событий</a:t>
            </a:r>
          </a:p>
        </p:txBody>
      </p:sp>
      <p:sp>
        <p:nvSpPr>
          <p:cNvPr id="141" name="Shape 141"/>
          <p:cNvSpPr txBox="1"/>
          <p:nvPr/>
        </p:nvSpPr>
        <p:spPr>
          <a:xfrm>
            <a:off x="6446520" y="4773168"/>
            <a:ext cx="1280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142" name="Shape 142"/>
          <p:cNvSpPr txBox="1"/>
          <p:nvPr/>
        </p:nvSpPr>
        <p:spPr>
          <a:xfrm>
            <a:off x="7818120" y="4773168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Требует переработки доменных событий</a:t>
            </a:r>
          </a:p>
        </p:txBody>
      </p:sp>
      <p:sp>
        <p:nvSpPr>
          <p:cNvPr id="150" name="Shape 150"/>
          <p:cNvSpPr txBox="1"/>
          <p:nvPr/>
        </p:nvSpPr>
        <p:spPr>
          <a:xfrm>
            <a:off x="502920" y="5486400"/>
            <a:ext cx="5852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6.  Управляемый облачный сервис реального времени</a:t>
            </a:r>
          </a:p>
        </p:txBody>
      </p:sp>
      <p:sp>
        <p:nvSpPr>
          <p:cNvPr id="151" name="Shape 151"/>
          <p:cNvSpPr txBox="1"/>
          <p:nvPr/>
        </p:nvSpPr>
        <p:spPr>
          <a:xfrm>
            <a:off x="6446520" y="5486400"/>
            <a:ext cx="12801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152" name="Shape 152"/>
          <p:cNvSpPr txBox="1"/>
          <p:nvPr/>
        </p:nvSpPr>
        <p:spPr>
          <a:xfrm>
            <a:off x="7818120" y="5486400"/>
            <a:ext cx="3931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Снижает контроль над локальным контуром</a:t>
            </a:r>
          </a:p>
        </p:txBody>
      </p:sp>
      <p:sp>
        <p:nvSpPr>
          <p:cNvPr id="160" name="Shape 160"/>
          <p:cNvSpPr txBox="1"/>
          <p:nvPr/>
        </p:nvSpPr>
        <p:spPr>
          <a:xfrm>
            <a:off x="502920" y="6199632"/>
            <a:ext cx="112471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000" b="0">
                <a:solidFill>
                  <a:srgbClr val="5E6A75"/>
                </a:solidFill>
                <a:latin typeface="Verdana"/>
                <a:cs typeface="Verdana"/>
              </a:rPr>
              <a:t>Критерии: межузловая доставка · сохранение модели групп SignalR · self-hosted · без переработки доменных событий · воспроизводимость в Docker Compose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Как это устроено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Два экземпляра backend за общей точкой входа · общий канал событий через Redis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914400" y="187452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Клиент A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914400" y="3749040"/>
            <a:ext cx="16459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Клиент B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3291840" y="2788920"/>
            <a:ext cx="1371600" cy="73152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nginx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5577840" y="187452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app-api-1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5577840" y="3749040"/>
            <a:ext cx="18288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app-api-2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8321040" y="2788920"/>
            <a:ext cx="2194560" cy="73152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Общий канал (Redis)</a:t>
            </a:r>
          </a:p>
        </p:txBody>
      </p:sp>
      <p:cxnSp>
        <p:nvCxnSpPr>
          <p:cNvPr id="50" name="Connector 50"/>
          <p:cNvCxnSpPr/>
          <p:nvPr/>
        </p:nvCxnSpPr>
        <p:spPr>
          <a:xfrm flipH="0" flipV="0">
            <a:off x="2560320" y="2194560"/>
            <a:ext cx="731520" cy="79552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1" name="Connector 51"/>
          <p:cNvCxnSpPr/>
          <p:nvPr/>
        </p:nvCxnSpPr>
        <p:spPr>
          <a:xfrm flipH="0" flipV="1">
            <a:off x="2560320" y="3319272"/>
            <a:ext cx="731520" cy="74980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2" name="Connector 52"/>
          <p:cNvCxnSpPr/>
          <p:nvPr/>
        </p:nvCxnSpPr>
        <p:spPr>
          <a:xfrm flipH="0" flipV="1">
            <a:off x="4663440" y="2194560"/>
            <a:ext cx="914400" cy="79552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3" name="Connector 53"/>
          <p:cNvCxnSpPr/>
          <p:nvPr/>
        </p:nvCxnSpPr>
        <p:spPr>
          <a:xfrm flipH="0" flipV="0">
            <a:off x="4663440" y="3319272"/>
            <a:ext cx="914400" cy="749808"/>
          </a:xfrm>
          <a:prstGeom prst="straightConnector1">
            <a:avLst/>
          </a:prstGeom>
          <a:ln w="15875" cap="flat">
            <a:solidFill>
              <a:srgbClr val="14A085"/>
            </a:solidFill>
            <a:tailEnd type="triangle"/>
          </a:ln>
        </p:spPr>
      </p:cxnSp>
      <p:cxnSp>
        <p:nvCxnSpPr>
          <p:cNvPr id="54" name="Connector 54"/>
          <p:cNvCxnSpPr/>
          <p:nvPr/>
        </p:nvCxnSpPr>
        <p:spPr>
          <a:xfrm flipH="0" flipV="0">
            <a:off x="7406640" y="2194560"/>
            <a:ext cx="914400" cy="795528"/>
          </a:xfrm>
          <a:prstGeom prst="straightConnector1">
            <a:avLst/>
          </a:prstGeom>
          <a:ln w="15875" cap="flat">
            <a:solidFill>
              <a:srgbClr val="6366F1"/>
            </a:solidFill>
            <a:headEnd type="triangle"/>
            <a:tailEnd type="triangle"/>
          </a:ln>
        </p:spPr>
      </p:cxnSp>
      <p:cxnSp>
        <p:nvCxnSpPr>
          <p:cNvPr id="55" name="Connector 55"/>
          <p:cNvCxnSpPr/>
          <p:nvPr/>
        </p:nvCxnSpPr>
        <p:spPr>
          <a:xfrm flipH="0" flipV="1">
            <a:off x="7406640" y="3319272"/>
            <a:ext cx="914400" cy="749808"/>
          </a:xfrm>
          <a:prstGeom prst="straightConnector1">
            <a:avLst/>
          </a:prstGeom>
          <a:ln w="15875" cap="flat">
            <a:solidFill>
              <a:srgbClr val="6366F1"/>
            </a:solidFill>
            <a:headEnd type="triangle"/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640080" y="4937760"/>
            <a:ext cx="1097280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Событие уходит в Redis и приходит на оба экземпляра. Оттуда — клиентам, которые сейчас открыли отчёт.</a:t>
            </a:r>
          </a:p>
        </p:txBody>
      </p:sp>
      <p:sp>
        <p:nvSpPr>
          <p:cNvPr id="27" name="Shape 27"/>
          <p:cNvSpPr txBox="1"/>
          <p:nvPr/>
        </p:nvSpPr>
        <p:spPr>
          <a:xfrm>
            <a:off x="640080" y="5440680"/>
            <a:ext cx="109728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База данных у экземпляров общая — здесь она опущена, чтобы не отвлекать от канала доставки.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Что происходит при изменении отчёта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Шесть шагов от действия пользователя до клиента на другом узле (§3.3, рис. 6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1783080"/>
            <a:ext cx="1783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1. Действие пользователя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Клиент A меняет заголовок отчёта.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2423160" y="1783080"/>
            <a:ext cx="1783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2. HTTP-запрос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Через общую точку входа запрос попадает на один из узлов — узел 1.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343400" y="1783080"/>
            <a:ext cx="1783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3. Сохранение в базе</a:t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Изменение фиксируется в PostgreSQL — это источник истины.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6263640" y="1783080"/>
            <a:ext cx="1783080" cy="38404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4. Публикация события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Сервис формирует событие изменения отчёта и отправляет его в группу.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183880" y="1783080"/>
            <a:ext cx="1783080" cy="384048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5. Межузловая доставка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Через общий канал событие становится доступным узлу 2.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10104120" y="1783080"/>
            <a:ext cx="1783080" cy="38404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6. Клиент B получает</a:t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200" b="1">
                <a:solidFill>
                  <a:srgbClr val="1A2730"/>
                </a:solidFill>
                <a:latin typeface="Verdana"/>
                <a:cs typeface="Verdana"/>
              </a:rPr>
              <a:t>Клиент на другом узле получает то же событие.</a:t>
            </a:r>
          </a:p>
        </p:txBody>
      </p:sp>
      <p:sp>
        <p:nvSpPr>
          <p:cNvPr id="26" name="Shape 26"/>
          <p:cNvSpPr txBox="1"/>
          <p:nvPr/>
        </p:nvSpPr>
        <p:spPr>
          <a:xfrm>
            <a:off x="502920" y="5852160"/>
            <a:ext cx="113842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REST остаётся источником команд и состояния, real-time — каналом распространения изменений.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Программная реализация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Пять направлений работ (§4.1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502920" y="1645920"/>
            <a:ext cx="21945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1. Серверная конфигурация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Включаемое через переменную окружения подключение общего канала событий.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2743200" y="1645920"/>
            <a:ext cx="21945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2. Хаб и отправка событий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Идентификатор узла, единая точка отправки, диагностика подключения.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4983480" y="1645920"/>
            <a:ext cx="219456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3. Клиентская часть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Автоматическое переподключение и повторная подписка на текущий отчёт.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223760" y="1645920"/>
            <a:ext cx="2194560" cy="41148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4. Инфраструктура стенда</a:t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Два экземпляра серверного сервиса, общая точка входа, общая база и общий канал.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9464040" y="1645920"/>
            <a:ext cx="2194560" cy="411480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5. Проверочный клиент</a:t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Отдельный скрипт, который подключается к двум узлам и измеряет задержку доставки.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502920" y="5989320"/>
            <a:ext cx="112471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Стек: ASP.NET Core, SignalR, Redis, React, TypeScript, Node.js, nginx, Docker Compose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Стенд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Воспроизводимое локальное окружение из шести компонентов (§4.5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3749040" y="1508760"/>
            <a:ext cx="4663440" cy="100584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Проверочный клиент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3749040" y="2697480"/>
            <a:ext cx="4663440" cy="100584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Общая точка входа (nginx)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68680" y="3886200"/>
            <a:ext cx="3840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Серверный сервис №1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7452360" y="3886200"/>
            <a:ext cx="3840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Серверный сервис №2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68680" y="5074920"/>
            <a:ext cx="38404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Общая база (PostgreSQL)</a:t>
            </a:r>
          </a:p>
        </p:txBody>
      </p:sp>
      <p:sp>
        <p:nvSpPr>
          <p:cNvPr id="25" name="Shape 25"/>
          <p:cNvSpPr txBox="1"/>
          <p:nvPr/>
        </p:nvSpPr>
        <p:spPr>
          <a:xfrm>
            <a:off x="7452360" y="5074920"/>
            <a:ext cx="3840480" cy="100584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1">
                <a:solidFill>
                  <a:srgbClr val="1A2730"/>
                </a:solidFill>
                <a:latin typeface="Verdana"/>
                <a:cs typeface="Verdana"/>
              </a:rPr>
              <a:t>Общий канал событий (Redis)</a:t>
            </a:r>
          </a:p>
        </p:txBody>
      </p:sp>
      <p:cxnSp>
        <p:nvCxnSpPr>
          <p:cNvPr id="70" name="Connector 70"/>
          <p:cNvCxnSpPr/>
          <p:nvPr/>
        </p:nvCxnSpPr>
        <p:spPr>
          <a:xfrm flipH="0" flipV="0">
            <a:off x="6080760" y="2514600"/>
            <a:ext cx="9144" cy="182880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71" name="Connector 71"/>
          <p:cNvCxnSpPr/>
          <p:nvPr/>
        </p:nvCxnSpPr>
        <p:spPr>
          <a:xfrm flipH="1" flipV="0">
            <a:off x="2788920" y="3703320"/>
            <a:ext cx="2240280" cy="182880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72" name="Connector 72"/>
          <p:cNvCxnSpPr/>
          <p:nvPr/>
        </p:nvCxnSpPr>
        <p:spPr>
          <a:xfrm flipH="0" flipV="0">
            <a:off x="7178040" y="3703320"/>
            <a:ext cx="2194560" cy="182880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73" name="Connector 73"/>
          <p:cNvCxnSpPr/>
          <p:nvPr/>
        </p:nvCxnSpPr>
        <p:spPr>
          <a:xfrm flipH="0" flipV="0">
            <a:off x="2788920" y="4892040"/>
            <a:ext cx="9144" cy="182880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cxnSp>
        <p:nvCxnSpPr>
          <p:cNvPr id="74" name="Connector 74"/>
          <p:cNvCxnSpPr/>
          <p:nvPr/>
        </p:nvCxnSpPr>
        <p:spPr>
          <a:xfrm flipH="0" flipV="0">
            <a:off x="9372600" y="4892040"/>
            <a:ext cx="9144" cy="182880"/>
          </a:xfrm>
          <a:prstGeom prst="straightConnector1">
            <a:avLst/>
          </a:prstGeom>
          <a:ln w="15875" cap="flat">
            <a:solidFill>
              <a:srgbClr val="6366F1"/>
            </a:solidFill>
            <a:tailEnd type="triangle"/>
          </a:ln>
        </p:spPr>
      </p:cxnSp>
      <p:cxnSp>
        <p:nvCxnSpPr>
          <p:cNvPr id="76" name="Connector 76"/>
          <p:cNvCxnSpPr/>
          <p:nvPr/>
        </p:nvCxnSpPr>
        <p:spPr>
          <a:xfrm flipH="0" flipV="0">
            <a:off x="4160520" y="4892040"/>
            <a:ext cx="3657600" cy="182880"/>
          </a:xfrm>
          <a:prstGeom prst="straightConnector1">
            <a:avLst/>
          </a:prstGeom>
          <a:ln w="15875" cap="flat">
            <a:solidFill>
              <a:srgbClr val="6366F1"/>
            </a:solidFill>
            <a:tailEnd type="triangle"/>
          </a:ln>
        </p:spPr>
      </p:cxnSp>
      <p:cxnSp>
        <p:nvCxnSpPr>
          <p:cNvPr id="77" name="Connector 77"/>
          <p:cNvCxnSpPr/>
          <p:nvPr/>
        </p:nvCxnSpPr>
        <p:spPr>
          <a:xfrm flipH="1" flipV="0">
            <a:off x="4160520" y="4892040"/>
            <a:ext cx="3840480" cy="182880"/>
          </a:xfrm>
          <a:prstGeom prst="straightConnector1">
            <a:avLst/>
          </a:prstGeom>
          <a:ln w="15875" cap="flat">
            <a:solidFill>
              <a:srgbClr val="5E6A75"/>
            </a:solidFill>
            <a:tailEnd type="triangle"/>
          </a:ln>
        </p:spPr>
      </p:cxnSp>
      <p:sp>
        <p:nvSpPr>
          <p:cNvPr id="26" name="Shape 26"/>
          <p:cNvSpPr txBox="1"/>
          <p:nvPr/>
        </p:nvSpPr>
        <p:spPr>
          <a:xfrm>
            <a:off x="502920" y="6263640"/>
            <a:ext cx="112471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100" b="0">
                <a:solidFill>
                  <a:srgbClr val="5E6A75"/>
                </a:solidFill>
                <a:latin typeface="Verdana"/>
                <a:cs typeface="Verdana"/>
              </a:rPr>
              <a:t>Оба сервиса собраны из одного образа и отличаются только идентификатором экземпляра.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Программа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Один и тот же стенд, два режима, пять проверок (§5.1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534924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Два режима одного стенда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•  Без общего канала событий — контрольный режим, воспроизводит исходное ограничение.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•  С общим каналом событий — целевой режим, проверяет решение.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Код и сценарий — одни и те же. Меняется только одна настройка: включён общий канал или нет.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08760"/>
            <a:ext cx="5349240" cy="452628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Пять проверок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1.  Одиночная доставка без общего канала.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2.  Одиночная доставка с общим каналом.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3.  Серия из 30 повторов — повторяемость и задержка.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4.  Восстановление подписки после разрыва соединения.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5.  Переключение на другой узел после отказа.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Главный результат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Один и тот же сценарий, разница — только в общем канале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54480"/>
            <a:ext cx="5349240" cy="32918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B91C1C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>Без общего канала</a:t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>Событие так и не пришло.</a:t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B91C1C"/>
                </a:solidFill>
                <a:latin typeface="Verdana"/>
                <a:cs typeface="Verdana"/>
              </a:rPr>
              <a:t>Клиент ждал 10 секунд — ничего.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172200" y="1554480"/>
            <a:ext cx="5349240" cy="329184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>С общим каналом</a:t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>Событие пришло.</a:t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ctr"/>
            <a:r>
              <a:rPr lang="ru-RU" sz="2000" b="1">
                <a:solidFill>
                  <a:srgbClr val="1A2730"/>
                </a:solidFill>
                <a:latin typeface="Verdana"/>
                <a:cs typeface="Verdana"/>
              </a:rPr>
              <a:t>От момента отправки до клиента — около 9,5 мс.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5074920"/>
            <a:ext cx="10835640" cy="7772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Изменился ровно один параметр — поведение изменилось ровно так, как ожидалось. Это и подтверждает, что причина именно в общем канале.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Расширенные сценарии испытаний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Повторяемость задержки и устойчивость к разрывам и отказам (§5.5–5.6 ВКР)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36576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Серийная проверка (§5.5)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30 повторов подряд в целевом режиме.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Успешно: 30 из 30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среднее 7,2 мс  ·  медиана 6,1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минимум 3,8 мс  ·  95 % быстрее 13,8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Повторяемость доставки и порядок задержки на локальном стенде.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434840" y="1600200"/>
            <a:ext cx="36576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Повторная подписка (§5.6)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Разрыв соединения, новое подключение, повторное вступление в группу отчёта.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переподключение 6,5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доставка после восстановления 15,2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Контур устойчив к разрыву клиентского соединения.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183880" y="1600200"/>
            <a:ext cx="3657600" cy="4251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Переключение после отказа (§5.6)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Остановка одного из узлов, переключение через общую точку входа на оставшийся.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переключение 352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доставка после переключения 5,4 мс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Контур устойчив к отказу одного узла.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Сводка результатов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Сопоставление режимов и сценариев (таблица 5.7 ВКР)</a:t>
            </a:r>
          </a:p>
        </p:txBody>
      </p:sp>
      <p:sp>
        <p:nvSpPr>
          <p:cNvPr id="80" name="Shape 80"/>
          <p:cNvSpPr txBox="1"/>
          <p:nvPr/>
        </p:nvSpPr>
        <p:spPr>
          <a:xfrm>
            <a:off x="502920" y="1417320"/>
            <a:ext cx="44348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Сценарий</a:t>
            </a:r>
          </a:p>
        </p:txBody>
      </p:sp>
      <p:sp>
        <p:nvSpPr>
          <p:cNvPr id="81" name="Shape 81"/>
          <p:cNvSpPr txBox="1"/>
          <p:nvPr/>
        </p:nvSpPr>
        <p:spPr>
          <a:xfrm>
            <a:off x="5029200" y="1417320"/>
            <a:ext cx="10058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50800" tIns="50800" rIns="50800" bIns="50800"/>
          <a:lstStyle/>
          <a:p>
            <a:pPr algn="ctr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Общий канал</a:t>
            </a:r>
          </a:p>
        </p:txBody>
      </p:sp>
      <p:sp>
        <p:nvSpPr>
          <p:cNvPr id="82" name="Shape 82"/>
          <p:cNvSpPr txBox="1"/>
          <p:nvPr/>
        </p:nvSpPr>
        <p:spPr>
          <a:xfrm>
            <a:off x="6126480" y="1417320"/>
            <a:ext cx="342900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Фактический результат</a:t>
            </a:r>
          </a:p>
        </p:txBody>
      </p:sp>
      <p:sp>
        <p:nvSpPr>
          <p:cNvPr id="83" name="Shape 83"/>
          <p:cNvSpPr txBox="1"/>
          <p:nvPr/>
        </p:nvSpPr>
        <p:spPr>
          <a:xfrm>
            <a:off x="9646920" y="1417320"/>
            <a:ext cx="210312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101600" tIns="101600" rIns="101600" bIns="101600"/>
          <a:lstStyle/>
          <a:p>
            <a:pPr algn="l"/>
            <a:r>
              <a:rPr lang="ru-RU" sz="1100" b="1">
                <a:solidFill>
                  <a:srgbClr val="5E6A75"/>
                </a:solidFill>
                <a:latin typeface="Verdana"/>
                <a:cs typeface="Verdana"/>
              </a:rPr>
              <a:t>Вывод</a:t>
            </a:r>
          </a:p>
        </p:txBody>
      </p:sp>
      <p:sp>
        <p:nvSpPr>
          <p:cNvPr id="200" name="Shape 200"/>
          <p:cNvSpPr txBox="1"/>
          <p:nvPr/>
        </p:nvSpPr>
        <p:spPr>
          <a:xfrm>
            <a:off x="502920" y="182880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Доставка без общего канала</a:t>
            </a:r>
          </a:p>
        </p:txBody>
      </p:sp>
      <p:sp>
        <p:nvSpPr>
          <p:cNvPr id="201" name="Shape 201"/>
          <p:cNvSpPr txBox="1"/>
          <p:nvPr/>
        </p:nvSpPr>
        <p:spPr>
          <a:xfrm>
            <a:off x="5029200" y="1828800"/>
            <a:ext cx="1005840" cy="6858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B91C1C"/>
                </a:solidFill>
                <a:latin typeface="Verdana"/>
                <a:cs typeface="Verdana"/>
              </a:rPr>
              <a:t>Нет</a:t>
            </a:r>
          </a:p>
        </p:txBody>
      </p:sp>
      <p:sp>
        <p:nvSpPr>
          <p:cNvPr id="202" name="Shape 202"/>
          <p:cNvSpPr txBox="1"/>
          <p:nvPr/>
        </p:nvSpPr>
        <p:spPr>
          <a:xfrm>
            <a:off x="6126480" y="182880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Тайм-аут 10 000 мс</a:t>
            </a:r>
          </a:p>
        </p:txBody>
      </p:sp>
      <p:sp>
        <p:nvSpPr>
          <p:cNvPr id="203" name="Shape 203"/>
          <p:cNvSpPr txBox="1"/>
          <p:nvPr/>
        </p:nvSpPr>
        <p:spPr>
          <a:xfrm>
            <a:off x="9646920" y="1828800"/>
            <a:ext cx="2103120" cy="6858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B91C1C"/>
                </a:solidFill>
                <a:latin typeface="Verdana"/>
                <a:cs typeface="Verdana"/>
              </a:rPr>
              <a:t>Ограничение воспроизведено</a:t>
            </a:r>
          </a:p>
        </p:txBody>
      </p:sp>
      <p:sp>
        <p:nvSpPr>
          <p:cNvPr id="210" name="Shape 210"/>
          <p:cNvSpPr txBox="1"/>
          <p:nvPr/>
        </p:nvSpPr>
        <p:spPr>
          <a:xfrm>
            <a:off x="502920" y="256032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Доставка с общим каналом</a:t>
            </a:r>
          </a:p>
        </p:txBody>
      </p:sp>
      <p:sp>
        <p:nvSpPr>
          <p:cNvPr id="211" name="Shape 211"/>
          <p:cNvSpPr txBox="1"/>
          <p:nvPr/>
        </p:nvSpPr>
        <p:spPr>
          <a:xfrm>
            <a:off x="5029200" y="2560320"/>
            <a:ext cx="1005840" cy="6858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12" name="Shape 212"/>
          <p:cNvSpPr txBox="1"/>
          <p:nvPr/>
        </p:nvSpPr>
        <p:spPr>
          <a:xfrm>
            <a:off x="6126480" y="256032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Событие доставлено · задержка ≈ 9,5 мс</a:t>
            </a:r>
          </a:p>
        </p:txBody>
      </p:sp>
      <p:sp>
        <p:nvSpPr>
          <p:cNvPr id="213" name="Shape 213"/>
          <p:cNvSpPr txBox="1"/>
          <p:nvPr/>
        </p:nvSpPr>
        <p:spPr>
          <a:xfrm>
            <a:off x="9646920" y="2560320"/>
            <a:ext cx="2103120" cy="68580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Ограничение устранено</a:t>
            </a:r>
          </a:p>
        </p:txBody>
      </p:sp>
      <p:sp>
        <p:nvSpPr>
          <p:cNvPr id="220" name="Shape 220"/>
          <p:cNvSpPr txBox="1"/>
          <p:nvPr/>
        </p:nvSpPr>
        <p:spPr>
          <a:xfrm>
            <a:off x="502920" y="329184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Серия из 30 итераций</a:t>
            </a:r>
          </a:p>
        </p:txBody>
      </p:sp>
      <p:sp>
        <p:nvSpPr>
          <p:cNvPr id="221" name="Shape 221"/>
          <p:cNvSpPr txBox="1"/>
          <p:nvPr/>
        </p:nvSpPr>
        <p:spPr>
          <a:xfrm>
            <a:off x="5029200" y="3291840"/>
            <a:ext cx="1005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22" name="Shape 222"/>
          <p:cNvSpPr txBox="1"/>
          <p:nvPr/>
        </p:nvSpPr>
        <p:spPr>
          <a:xfrm>
            <a:off x="6126480" y="329184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30 из 30 · 95 % быстрее 13,8 мс</a:t>
            </a:r>
          </a:p>
        </p:txBody>
      </p:sp>
      <p:sp>
        <p:nvSpPr>
          <p:cNvPr id="223" name="Shape 223"/>
          <p:cNvSpPr txBox="1"/>
          <p:nvPr/>
        </p:nvSpPr>
        <p:spPr>
          <a:xfrm>
            <a:off x="9646920" y="3291840"/>
            <a:ext cx="21031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Повторяемость подтверждена</a:t>
            </a:r>
          </a:p>
        </p:txBody>
      </p:sp>
      <p:sp>
        <p:nvSpPr>
          <p:cNvPr id="230" name="Shape 230"/>
          <p:cNvSpPr txBox="1"/>
          <p:nvPr/>
        </p:nvSpPr>
        <p:spPr>
          <a:xfrm>
            <a:off x="502920" y="402336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Повторная подписка после разрыва</a:t>
            </a:r>
          </a:p>
        </p:txBody>
      </p:sp>
      <p:sp>
        <p:nvSpPr>
          <p:cNvPr id="231" name="Shape 231"/>
          <p:cNvSpPr txBox="1"/>
          <p:nvPr/>
        </p:nvSpPr>
        <p:spPr>
          <a:xfrm>
            <a:off x="5029200" y="4023360"/>
            <a:ext cx="1005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32" name="Shape 232"/>
          <p:cNvSpPr txBox="1"/>
          <p:nvPr/>
        </p:nvSpPr>
        <p:spPr>
          <a:xfrm>
            <a:off x="6126480" y="402336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Событие после восстановления · 15,2 мс</a:t>
            </a:r>
          </a:p>
        </p:txBody>
      </p:sp>
      <p:sp>
        <p:nvSpPr>
          <p:cNvPr id="233" name="Shape 233"/>
          <p:cNvSpPr txBox="1"/>
          <p:nvPr/>
        </p:nvSpPr>
        <p:spPr>
          <a:xfrm>
            <a:off x="9646920" y="4023360"/>
            <a:ext cx="21031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Подписка восстановлена</a:t>
            </a:r>
          </a:p>
        </p:txBody>
      </p:sp>
      <p:sp>
        <p:nvSpPr>
          <p:cNvPr id="240" name="Shape 240"/>
          <p:cNvSpPr txBox="1"/>
          <p:nvPr/>
        </p:nvSpPr>
        <p:spPr>
          <a:xfrm>
            <a:off x="502920" y="4754880"/>
            <a:ext cx="4434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Переключение после отказа узла</a:t>
            </a:r>
          </a:p>
        </p:txBody>
      </p:sp>
      <p:sp>
        <p:nvSpPr>
          <p:cNvPr id="241" name="Shape 241"/>
          <p:cNvSpPr txBox="1"/>
          <p:nvPr/>
        </p:nvSpPr>
        <p:spPr>
          <a:xfrm>
            <a:off x="5029200" y="4754880"/>
            <a:ext cx="10058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76200" tIns="76200" rIns="76200" bIns="76200"/>
          <a:lstStyle/>
          <a:p>
            <a:pPr algn="ctr"/>
            <a:r>
              <a:rPr lang="ru-RU" sz="1200" b="1">
                <a:solidFill>
                  <a:srgbClr val="14A085"/>
                </a:solidFill>
                <a:latin typeface="Verdana"/>
                <a:cs typeface="Verdana"/>
              </a:rPr>
              <a:t>Да</a:t>
            </a:r>
          </a:p>
        </p:txBody>
      </p:sp>
      <p:sp>
        <p:nvSpPr>
          <p:cNvPr id="242" name="Shape 242"/>
          <p:cNvSpPr txBox="1"/>
          <p:nvPr/>
        </p:nvSpPr>
        <p:spPr>
          <a:xfrm>
            <a:off x="6126480" y="4754880"/>
            <a:ext cx="342900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27000" tIns="127000" rIns="127000" bIns="127000"/>
          <a:lstStyle/>
          <a:p>
            <a:pPr algn="l"/>
            <a:r>
              <a:rPr lang="ru-RU" sz="1200" b="0">
                <a:solidFill>
                  <a:srgbClr val="1A2730"/>
                </a:solidFill>
                <a:latin typeface="Verdana"/>
                <a:cs typeface="Verdana"/>
              </a:rPr>
              <a:t>Узел 2 → узел 1, событие получено</a:t>
            </a:r>
          </a:p>
        </p:txBody>
      </p:sp>
      <p:sp>
        <p:nvSpPr>
          <p:cNvPr id="243" name="Shape 243"/>
          <p:cNvSpPr txBox="1"/>
          <p:nvPr/>
        </p:nvSpPr>
        <p:spPr>
          <a:xfrm>
            <a:off x="9646920" y="4754880"/>
            <a:ext cx="210312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01600" tIns="101600" rIns="101600" bIns="101600"/>
          <a:lstStyle/>
          <a:p>
            <a:pPr algn="ctr"/>
            <a:r>
              <a:rPr lang="ru-RU" sz="1100" b="1">
                <a:solidFill>
                  <a:srgbClr val="14A085"/>
                </a:solidFill>
                <a:latin typeface="Verdana"/>
                <a:cs typeface="Verdana"/>
              </a:rPr>
              <a:t>Восстановление после отказа</a:t>
            </a:r>
          </a:p>
        </p:txBody>
      </p:sp>
      <p:sp>
        <p:nvSpPr>
          <p:cNvPr id="250" name="Shape 250"/>
          <p:cNvSpPr txBox="1"/>
          <p:nvPr/>
        </p:nvSpPr>
        <p:spPr>
          <a:xfrm>
            <a:off x="502920" y="5669280"/>
            <a:ext cx="11247120" cy="59436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ctr"/>
            <a:r>
              <a:rPr lang="ru-RU" sz="1200" b="0">
                <a:solidFill>
                  <a:srgbClr val="5E6A75"/>
                </a:solidFill>
                <a:latin typeface="Verdana"/>
                <a:cs typeface="Verdana"/>
              </a:rPr>
              <a:t>Сопоставление режимов на одном стенде с одним кодом показывает причинную связь между включением межузлового канала и доставкой события.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Чего решение не делает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21792" y="987552"/>
            <a:ext cx="987552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5E6A75"/>
                </a:solidFill>
                <a:latin typeface="Verdana"/>
                <a:cs typeface="Verdana"/>
              </a:rPr>
              <a:t>Это интерфейсная синхронизация, а не строгий промышленный режим реального времени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Задержка не нулевая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Событие проходит через два экземпляра и общий канал.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На стенде получилось ~7 мс в среднем.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4389120" y="1508760"/>
            <a:ext cx="352044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Источник истины — база</a:t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Если возникает сомнение в состоянии, клиент всегда может перечитать его обычным HTTP-запросом.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8092440" y="1508760"/>
            <a:ext cx="3520440" cy="434340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Что было бы дальше</a:t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400" b="1">
                <a:solidFill>
                  <a:srgbClr val="1A2730"/>
                </a:solidFill>
                <a:latin typeface="Verdana"/>
                <a:cs typeface="Verdana"/>
              </a:rPr>
              <a:t>Прочный журнал событий, версии сущностей, гарантии доставки — если потребуется строгая согласованность между сервисами.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 txBox="1"/>
          <p:nvPr/>
        </p:nvSpPr>
        <p:spPr>
          <a:xfrm>
            <a:off x="594360" y="411480"/>
            <a:ext cx="108813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3000" b="1">
                <a:solidFill>
                  <a:srgbClr val="1A2730"/>
                </a:solidFill>
                <a:latin typeface="Verdana"/>
                <a:cs typeface="Verdana"/>
              </a:rPr>
              <a:t>Итог</a:t>
            </a:r>
          </a:p>
        </p:txBody>
      </p:sp>
      <p:sp>
        <p:nvSpPr>
          <p:cNvPr id="20" name="Shape 20"/>
          <p:cNvSpPr txBox="1"/>
          <p:nvPr/>
        </p:nvSpPr>
        <p:spPr>
          <a:xfrm>
            <a:off x="685800" y="1600200"/>
            <a:ext cx="10835640" cy="1234440"/>
          </a:xfrm>
          <a:prstGeom prst="roundRect">
            <a:avLst/>
          </a:prstGeom>
          <a:solidFill>
            <a:srgbClr val="E6F4F1"/>
          </a:solidFill>
          <a:ln w="12700">
            <a:solidFill>
              <a:srgbClr val="14A085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800" b="1">
                <a:solidFill>
                  <a:srgbClr val="1A2730"/>
                </a:solidFill>
                <a:latin typeface="Verdana"/>
                <a:cs typeface="Verdana"/>
              </a:rPr>
              <a:t>Изменения в отчёте теперь доходят до всех участников — независимо от того, к какому экземпляру backend они подключены.</a:t>
            </a:r>
          </a:p>
        </p:txBody>
      </p:sp>
      <p:sp>
        <p:nvSpPr>
          <p:cNvPr id="21" name="Shape 21"/>
          <p:cNvSpPr txBox="1"/>
          <p:nvPr/>
        </p:nvSpPr>
        <p:spPr>
          <a:xfrm>
            <a:off x="685800" y="3017520"/>
            <a:ext cx="10835640" cy="1188720"/>
          </a:xfrm>
          <a:prstGeom prst="roundRect">
            <a:avLst/>
          </a:prstGeom>
          <a:solidFill>
            <a:srgbClr val="EEF0FE"/>
          </a:solidFill>
          <a:ln w="12700">
            <a:solidFill>
              <a:srgbClr val="6366F1"/>
            </a:solidFill>
          </a:ln>
        </p:spPr>
        <p:txBody>
          <a:bodyPr wrap="square" lIns="177800" tIns="177800" rIns="177800" bIns="177800"/>
          <a:lstStyle/>
          <a:p>
            <a:pPr algn="ctr"/>
            <a:r>
              <a:rPr lang="ru-RU" sz="1400" b="0">
                <a:solidFill>
                  <a:srgbClr val="1A2730"/>
                </a:solidFill>
                <a:latin typeface="Verdana"/>
                <a:cs typeface="Verdana"/>
              </a:rPr>
              <a:t>Дополнительный эффект — при падении одного экземпляра пользователи продолжают работать через другой.</a:t>
            </a:r>
          </a:p>
        </p:txBody>
      </p:sp>
      <p:sp>
        <p:nvSpPr>
          <p:cNvPr id="22" name="Shape 22"/>
          <p:cNvSpPr txBox="1"/>
          <p:nvPr/>
        </p:nvSpPr>
        <p:spPr>
          <a:xfrm>
            <a:off x="685800" y="452628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Что было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 несколькими экземплярами backend изменения не доходили до части пользователей.</a:t>
            </a:r>
          </a:p>
        </p:txBody>
      </p:sp>
      <p:sp>
        <p:nvSpPr>
          <p:cNvPr id="23" name="Shape 23"/>
          <p:cNvSpPr txBox="1"/>
          <p:nvPr/>
        </p:nvSpPr>
        <p:spPr>
          <a:xfrm>
            <a:off x="4343400" y="452628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Что сделали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Два экземпляра за общей точкой входа плюс общий канал событий через Redis.</a:t>
            </a:r>
          </a:p>
        </p:txBody>
      </p:sp>
      <p:sp>
        <p:nvSpPr>
          <p:cNvPr id="24" name="Shape 24"/>
          <p:cNvSpPr txBox="1"/>
          <p:nvPr/>
        </p:nvSpPr>
        <p:spPr>
          <a:xfrm>
            <a:off x="8001000" y="4526280"/>
            <a:ext cx="35204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7EB"/>
            </a:solidFill>
          </a:ln>
        </p:spPr>
        <p:txBody>
          <a:bodyPr wrap="square" lIns="177800" tIns="177800" rIns="177800" bIns="177800"/>
          <a:lstStyle/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Чем доказали</a:t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/>
            </a:r>
          </a:p>
          <a:p>
            <a:pPr algn="l"/>
            <a:r>
              <a:rPr lang="ru-RU" sz="1300" b="0">
                <a:solidFill>
                  <a:srgbClr val="1A2730"/>
                </a:solidFill>
                <a:latin typeface="Verdana"/>
                <a:cs typeface="Verdana"/>
              </a:rPr>
              <a:t>Сравнение «без / с», 30 повторов, переподключение и падение узла.</a:t>
            </a:r>
          </a:p>
        </p:txBody>
      </p:sp>
      <p:sp>
        <p:nvSpPr>
          <p:cNvPr id="900" name="Shape 900"/>
          <p:cNvSpPr txBox="1"/>
          <p:nvPr/>
        </p:nvSpPr>
        <p:spPr>
          <a:xfrm>
            <a:off x="594360" y="6510528"/>
            <a:ext cx="10972800" cy="201168"/>
          </a:xfrm>
          <a:prstGeom prst="roundRect">
            <a:avLst/>
          </a:prstGeom>
          <a:noFill/>
          <a:ln>
            <a:noFill/>
          </a:ln>
        </p:spPr>
        <p:txBody>
          <a:bodyPr wrap="square" lIns="177800" tIns="177800" rIns="177800" bIns="177800"/>
          <a:lstStyle/>
          <a:p>
            <a:pPr algn="l"/>
            <a:r>
              <a:rPr lang="ru-RU" sz="800" b="0">
                <a:solidFill>
                  <a:srgbClr val="5E6A75"/>
                </a:solidFill>
                <a:latin typeface="Verdana"/>
                <a:cs typeface="Verdana"/>
              </a:rPr>
              <a:t>В реальном времени ·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KR">
  <a:themeElements>
    <a:clrScheme name="VKR">
      <a:dk1>
        <a:srgbClr val="18212B"/>
      </a:dk1>
      <a:lt1>
        <a:srgbClr val="F6F3EC"/>
      </a:lt1>
      <a:dk2>
        <a:srgbClr val="293241"/>
      </a:dk2>
      <a:lt2>
        <a:srgbClr val="FFFFFF"/>
      </a:lt2>
      <a:accent1>
        <a:srgbClr val="0B6E69"/>
      </a:accent1>
      <a:accent2>
        <a:srgbClr val="C76F2E"/>
      </a:accent2>
      <a:accent3>
        <a:srgbClr val="E8F3F1"/>
      </a:accent3>
      <a:accent4>
        <a:srgbClr val="FFF3D8"/>
      </a:accent4>
      <a:accent5>
        <a:srgbClr val="5E6A75"/>
      </a:accent5>
      <a:accent6>
        <a:srgbClr val="E3E7EB"/>
      </a:accent6>
      <a:hlink>
        <a:srgbClr val="0B6E69"/>
      </a:hlink>
      <a:folHlink>
        <a:srgbClr val="0B6E69"/>
      </a:folHlink>
    </a:clrScheme>
    <a:fontScheme name="Verdana">
      <a:majorFont>
        <a:latin typeface="Verdana"/>
      </a:majorFont>
      <a:minorFont>
        <a:latin typeface="Verdana"/>
      </a:minorFont>
    </a:fontScheme>
    <a:fmtScheme name="VKR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ВКР real-time scale-out</dc:title>
  <dc:creator>Codex</dc:creator>
</cp:coreProperties>
</file>