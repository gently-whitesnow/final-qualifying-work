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 <Relationship Id="rId18" Type="http://schemas.openxmlformats.org/officeDocument/2006/relationships/slide" Target="slides/slide17.xml"/> <Relationship Id="rId19" Type="http://schemas.openxmlformats.org/officeDocument/2006/relationships/slide" Target="slides/slide1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dashboard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report-page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A2730"/>
                </a:solidFill>
                <a:latin typeface="Verdana"/>
                <a:cs typeface="Verdana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Verdana"/>
                <a:cs typeface="Verdana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Руководитель: канд. техн. наук, доцент А. В. Фомин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Verdana"/>
                <a:cs typeface="Verdana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Где живёт продукт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У команды есть привычный процесс. Продукт помогает на этапе тестирования.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Аналитика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324612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Разработка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806440" y="1783080"/>
            <a:ext cx="2377440" cy="8686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Тестирование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36676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Деплой</a:t>
            </a:r>
          </a:p>
        </p:txBody>
      </p:sp>
      <p:cxnSp>
        <p:nvCxnSpPr>
          <p:cNvPr id="40" name="Connector 40"/>
          <p:cNvCxnSpPr/>
          <p:nvPr/>
        </p:nvCxnSpPr>
        <p:spPr>
          <a:xfrm flipH="0" flipV="0">
            <a:off x="306324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1" name="Connector 41"/>
          <p:cNvCxnSpPr/>
          <p:nvPr/>
        </p:nvCxnSpPr>
        <p:spPr>
          <a:xfrm flipH="0" flipV="0">
            <a:off x="562356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2" name="Connector 42"/>
          <p:cNvCxnSpPr/>
          <p:nvPr/>
        </p:nvCxnSpPr>
        <p:spPr>
          <a:xfrm flipH="0" flipV="0">
            <a:off x="818388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sp>
        <p:nvSpPr>
          <p:cNvPr id="30" name="Shape 30"/>
          <p:cNvSpPr txBox="1"/>
          <p:nvPr/>
        </p:nvSpPr>
        <p:spPr>
          <a:xfrm>
            <a:off x="685800" y="3200400"/>
            <a:ext cx="10835640" cy="14173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A2730"/>
                </a:solidFill>
                <a:latin typeface="Verdana"/>
                <a:cs typeface="Verdana"/>
              </a:rPr>
              <a:t>Продукт — система отслеживания задач и багов.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685800" y="3931920"/>
            <a:ext cx="1083564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5E6A75"/>
                </a:solidFill>
                <a:latin typeface="Verdana"/>
                <a:cs typeface="Verdana"/>
              </a:rPr>
              <a:t>В одном отчёте встречаются тестировщик, разработчик и ответственный: заводят баг, уточняют шаги, меняют статус.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685800" y="5074920"/>
            <a:ext cx="10835640" cy="9144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Они работают с одним отчётом одновременно — значит, изменения должны быть видны сразу, без F5.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Целевой продукт: дашборд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Список отчётов команды, статусы, ответственные и активность по задачам (рис. 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E3E7EB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Целевой продукт: страница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Основной рабочий экран: отчёт, баги, шаги воспроизведения, комментарии, участники (рис. 2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repor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E3E7EB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Почему это актуально сейчас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Интерфейсы переходят от статичных CRUD-экранов к событийным рабочим пространствам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Рост сложности продуктов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Современные веб-системы объединяют связанные сущности, фоновые операции, уведомления и совместное редактирование.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Изменения должны быть видны участникам без ручного обновления страницы.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AI-инструменты как отраслевой контекст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Интеллектуальные ассистенты могут сами создавать комментарии, обновлять статус, предлагать исполнителя, дополнять описание задачи.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Ожидание живой синхронизации усиливается даже у ручных сценариев.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Что это значит для инженера</a:t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Real-time перестаёт быть «фичей» и становится инженерной характеристикой: способность интерфейса быстро и согласованно распространять изменения.</a:t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Поэтому строить его нужно для нескольких экземпляров backend, а не только single-node.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5989320"/>
            <a:ext cx="108356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В работе AI-функциональность не утверждается как реализованная; это контекст актуальности.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В чём проблема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Когда backend один — всё работает. Когда их несколько — изменения теряются.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417320"/>
            <a:ext cx="10835640" cy="9601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A2730"/>
                </a:solidFill>
                <a:latin typeface="Verdana"/>
                <a:cs typeface="Verdana"/>
              </a:rPr>
              <a:t>Тестировщик и разработчик открыли один и тот же отчёт. Тестировщик меняет статус — у разработчика в браузере ничего не происходит.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606040"/>
            <a:ext cx="53492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Почему так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Каждый экземпляр backend помнит только своих клиентов. Если тестировщик и разработчик подключены к разным экземплярам, событие об изменении до второго просто не доходит.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2606040"/>
            <a:ext cx="53492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Что это значит на практике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Совместная работа над отчётом ломается: часть участников видит новый статус, часть — старый.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Backend нельзя масштабировать горизонтально, не перестроив доставку событий.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6035040"/>
            <a:ext cx="108356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Технически: подключения и группы SignalR хранятся в памяти процесса.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Цель работы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Сделать так, чтобы изменения доходили до всех — независимо от того, к какому экземпляру подключён пользователь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10835640" cy="12344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1">
                <a:solidFill>
                  <a:srgbClr val="1A2730"/>
                </a:solidFill>
                <a:latin typeface="Verdana"/>
                <a:cs typeface="Verdana"/>
              </a:rPr>
              <a:t>Real-time интерфейс, в котором при нескольких экземплярах backend изменения в отчёте доставляются всем участникам, открывшим этот отчёт.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154680"/>
            <a:ext cx="35204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1. Спроектировать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Архитектуру распределённой доставки событий и её границы.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89120" y="3154680"/>
            <a:ext cx="35204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2. Реализовать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Backend, фронтенд и стенд из двух экземпляров за общей точкой входа.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092440" y="3154680"/>
            <a:ext cx="35204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3. Проверить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Воспроизвести проблему, подтвердить решение, измерить задержку и устойчивость.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Сравнение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Шесть рассмотренных вариантов — выбран четвёртый (§1.4, таблица 1.4 ВКР)</a:t>
            </a:r>
          </a:p>
        </p:txBody>
      </p:sp>
      <p:sp>
        <p:nvSpPr>
          <p:cNvPr id="80" name="Shape 80"/>
          <p:cNvSpPr txBox="1"/>
          <p:nvPr/>
        </p:nvSpPr>
        <p:spPr>
          <a:xfrm>
            <a:off x="502920" y="1417320"/>
            <a:ext cx="58521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Подход</a:t>
            </a:r>
          </a:p>
        </p:txBody>
      </p:sp>
      <p:sp>
        <p:nvSpPr>
          <p:cNvPr id="81" name="Shape 81"/>
          <p:cNvSpPr txBox="1"/>
          <p:nvPr/>
        </p:nvSpPr>
        <p:spPr>
          <a:xfrm>
            <a:off x="6446520" y="1417320"/>
            <a:ext cx="12801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50800" tIns="50800" rIns="50800" bIns="50800"/>
          <a:lstStyle/>
          <a:p>
            <a:pPr algn="ctr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Доставка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7818120" y="1417320"/>
            <a:ext cx="393192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Ограничение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502920" y="1828800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 Один экземпляр серверного сервиса</a:t>
            </a:r>
          </a:p>
        </p:txBody>
      </p:sp>
      <p:sp>
        <p:nvSpPr>
          <p:cNvPr id="101" name="Shape 101"/>
          <p:cNvSpPr txBox="1"/>
          <p:nvPr/>
        </p:nvSpPr>
        <p:spPr>
          <a:xfrm>
            <a:off x="6446520" y="1828800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02" name="Shape 102"/>
          <p:cNvSpPr txBox="1"/>
          <p:nvPr/>
        </p:nvSpPr>
        <p:spPr>
          <a:xfrm>
            <a:off x="7818120" y="1828800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Только ранний прототип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502920" y="2542032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 Несколько экземпляров без общего канала</a:t>
            </a:r>
          </a:p>
        </p:txBody>
      </p:sp>
      <p:sp>
        <p:nvSpPr>
          <p:cNvPr id="111" name="Shape 111"/>
          <p:cNvSpPr txBox="1"/>
          <p:nvPr/>
        </p:nvSpPr>
        <p:spPr>
          <a:xfrm>
            <a:off x="6446520" y="2542032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12" name="Shape 112"/>
          <p:cNvSpPr txBox="1"/>
          <p:nvPr/>
        </p:nvSpPr>
        <p:spPr>
          <a:xfrm>
            <a:off x="7818120" y="2542032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Локальные группы фрагментируются</a:t>
            </a:r>
          </a:p>
        </p:txBody>
      </p:sp>
      <p:sp>
        <p:nvSpPr>
          <p:cNvPr id="120" name="Shape 120"/>
          <p:cNvSpPr txBox="1"/>
          <p:nvPr/>
        </p:nvSpPr>
        <p:spPr>
          <a:xfrm>
            <a:off x="502920" y="3255264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 Закрепление клиента за узлом</a:t>
            </a:r>
          </a:p>
        </p:txBody>
      </p:sp>
      <p:sp>
        <p:nvSpPr>
          <p:cNvPr id="121" name="Shape 121"/>
          <p:cNvSpPr txBox="1"/>
          <p:nvPr/>
        </p:nvSpPr>
        <p:spPr>
          <a:xfrm>
            <a:off x="6446520" y="3255264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22" name="Shape 122"/>
          <p:cNvSpPr txBox="1"/>
          <p:nvPr/>
        </p:nvSpPr>
        <p:spPr>
          <a:xfrm>
            <a:off x="7818120" y="3255264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Не доставляет события другим узлам</a:t>
            </a:r>
          </a:p>
        </p:txBody>
      </p:sp>
      <p:sp>
        <p:nvSpPr>
          <p:cNvPr id="130" name="Shape 130"/>
          <p:cNvSpPr txBox="1"/>
          <p:nvPr/>
        </p:nvSpPr>
        <p:spPr>
          <a:xfrm>
            <a:off x="502920" y="3968496"/>
            <a:ext cx="585216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 Redis backplane для SignalR — выбрано</a:t>
            </a:r>
          </a:p>
        </p:txBody>
      </p:sp>
      <p:sp>
        <p:nvSpPr>
          <p:cNvPr id="131" name="Shape 131"/>
          <p:cNvSpPr txBox="1"/>
          <p:nvPr/>
        </p:nvSpPr>
        <p:spPr>
          <a:xfrm>
            <a:off x="6446520" y="3968496"/>
            <a:ext cx="128016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32" name="Shape 132"/>
          <p:cNvSpPr txBox="1"/>
          <p:nvPr/>
        </p:nvSpPr>
        <p:spPr>
          <a:xfrm>
            <a:off x="7818120" y="3968496"/>
            <a:ext cx="393192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Сохраняет SignalR-группы, локальный стенд</a:t>
            </a:r>
          </a:p>
        </p:txBody>
      </p:sp>
      <p:sp>
        <p:nvSpPr>
          <p:cNvPr id="140" name="Shape 140"/>
          <p:cNvSpPr txBox="1"/>
          <p:nvPr/>
        </p:nvSpPr>
        <p:spPr>
          <a:xfrm>
            <a:off x="502920" y="4773168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5.  Брокер сообщений или шина событий</a:t>
            </a:r>
          </a:p>
        </p:txBody>
      </p:sp>
      <p:sp>
        <p:nvSpPr>
          <p:cNvPr id="141" name="Shape 141"/>
          <p:cNvSpPr txBox="1"/>
          <p:nvPr/>
        </p:nvSpPr>
        <p:spPr>
          <a:xfrm>
            <a:off x="6446520" y="4773168"/>
            <a:ext cx="1280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42" name="Shape 142"/>
          <p:cNvSpPr txBox="1"/>
          <p:nvPr/>
        </p:nvSpPr>
        <p:spPr>
          <a:xfrm>
            <a:off x="7818120" y="4773168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Требует переработки доменных событий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02920" y="5486400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6.  Управляемый real-time сервис</a:t>
            </a:r>
          </a:p>
        </p:txBody>
      </p:sp>
      <p:sp>
        <p:nvSpPr>
          <p:cNvPr id="151" name="Shape 151"/>
          <p:cNvSpPr txBox="1"/>
          <p:nvPr/>
        </p:nvSpPr>
        <p:spPr>
          <a:xfrm>
            <a:off x="6446520" y="5486400"/>
            <a:ext cx="1280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52" name="Shape 152"/>
          <p:cNvSpPr txBox="1"/>
          <p:nvPr/>
        </p:nvSpPr>
        <p:spPr>
          <a:xfrm>
            <a:off x="7818120" y="5486400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Снижает контроль над локальным контуром</a:t>
            </a:r>
          </a:p>
        </p:txBody>
      </p:sp>
      <p:sp>
        <p:nvSpPr>
          <p:cNvPr id="160" name="Shape 160"/>
          <p:cNvSpPr txBox="1"/>
          <p:nvPr/>
        </p:nvSpPr>
        <p:spPr>
          <a:xfrm>
            <a:off x="502920" y="6199632"/>
            <a:ext cx="112471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000" b="0">
                <a:solidFill>
                  <a:srgbClr val="5E6A75"/>
                </a:solidFill>
                <a:latin typeface="Verdana"/>
                <a:cs typeface="Verdana"/>
              </a:rPr>
              <a:t>Критерии: межузловая доставка · сохранение модели групп SignalR · self-hosted · без переработки доменных событий · воспроизводимость в Docker Compose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Как это устроено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Два экземпляра backend за общей точкой входа · общий канал событий через Redis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6366F1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6366F1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Событие уходит в Redis и приходит на оба экземпляра. Оттуда — клиентам, которые сейчас открыли отчёт.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База данных у экземпляров общая — здесь она опущена, чтобы не отвлекать от канала 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Что происходит при изменении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Шесть шагов от действия пользователя до клиента на другом экземпляре (§3.3, рис. 6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Действие пользователя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Клиент A меняет заголовок отчёта.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242316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HTTP-запрос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Через nginx запрос попадает на один из экземпляров — app-api-1.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4340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Сохранение в БД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Изменение фиксируется в PostgreSQL — это источник истины.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263640" y="1783080"/>
            <a:ext cx="1783080" cy="38404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Публикация события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Backend формирует ReceiveReportPatch и отправляет в группу отчёта.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183880" y="1783080"/>
            <a:ext cx="1783080" cy="384048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5. Межузловая доставка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Через Redis событие становится доступным app-api-2.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10104120" y="1783080"/>
            <a:ext cx="1783080" cy="38404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6. Клиент B получает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Клиент на втором экземпляре получает событие.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5852160"/>
            <a:ext cx="113842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REST остаётся источником команд и состояния, real-time — каналом распространения изменений.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Программная реализация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Пять направлений работ (§4.1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1554480"/>
            <a:ext cx="21945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Серверная конфигурация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Подключение Redis backplane через переменную окружения. Один и тот же код запускается с межузловым каналом и без него.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2743200" y="1554480"/>
            <a:ext cx="21945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Хаб и отправка событий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Диагностический метод, идентификатор экземпляра, eventId, централизованная отправка через единый клиент хаба.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983480" y="1554480"/>
            <a:ext cx="21945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Клиентский real-time слой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WebSocket-транспорт, автоматическое переподключение и повторное вступление в группу текущего отчёта.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223760" y="1554480"/>
            <a:ext cx="2194560" cy="43891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Инфраструктура стенда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Docker Compose, два экземпляра app-api, общий nginx, Redis и PostgreSQL. Отдельный override для режима без backplane.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9464040" y="1554480"/>
            <a:ext cx="2194560" cy="438912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5. Проверочный клиент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Node.js-скрипт, который подключается к двум узлам, ждёт событие и измеряет задержку доставки.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502920" y="6126480"/>
            <a:ext cx="112471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000" b="0">
                <a:solidFill>
                  <a:srgbClr val="5E6A75"/>
                </a:solidFill>
                <a:latin typeface="Verdana"/>
                <a:cs typeface="Verdana"/>
              </a:rPr>
              <a:t>.NET / ASP.NET Core · SignalR · StackExchange.Redis · React · TypeScript · Node.js · nginx · Docker Compose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Стенд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Минимальный воспроизводимый Docker Compose-стенд (§4.5, §5.2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Состав стенда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postgres_app_thesis — общая база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redis_app_thesis — общий канал событий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app-api-1 — серверный экземпляр №1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app-api-2 — серверный экземпляр №2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nginx_app_thesis — общая точка входа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•  Node.js-скрипт проверки — вне продукта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Оба экземпляра app-api собраны из одного Dockerfile и отличаются только значением SERVER_INSTANCE_ID.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4348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Как запускают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 общим каналом (целевой режим):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docker compose -f docker-compose.thesis.yml up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Без общего канала (контрольный режим):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docker compose -f thesis.yml -f thesis.no-backplane.yml up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Проверочный клиент: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node scripts/realtime-scaleout-check.mjs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Серия и сценарии: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THESIS_ITERATIONS=30  ·  THESIS_SCENARIO=rejoin  ·  failover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6080760"/>
            <a:ext cx="108356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Эксперимент проверяет именно серверный real-time контур и межузловую доставку — независимо от полноценного UI продукта.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Один код в двух режимах, пять контрольных проверок (§5.1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Два режима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•  Без Redis backplane — контрольный режим, воспроизводит исходное ограничение.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•  С Redis backplane — целевой режим, проверяет решение.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Код приложения и сценарий идентичны. Различие — только в значении REDIS_CONNECTION_STRING; это даёт причинную связь, а не корреляцию.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5262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Пять проверок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1.  Одиночная доставка без backplane — ожидание тайм-аута.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2.  Одиночная доставка с backplane — подтверждение решения.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3.  Серия из 30 итераций — повторяемость и задержка.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4.  Повторная подписка после разрыва соединения.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5.  Переключение на другой экземпляр после отказа узла.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Один и тот же сценарий, разница — только в общем канале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Без общего канала</a:t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Событие так и не пришло.</a:t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Клиент ждал 10 секунд — ничего.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С общим каналом</a:t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Событие пришло.</a:t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От момента отправки до клиента — около 9,5 мс.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Изменился ровно один параметр — поведение изменилось ровно так, как ожидалось. Это и подтверждает, что причина именно в общем канале.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Расширенные сценарии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Серийная проверка задержки и устойчивость к разрывам/отказам (§5.5–5.6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§5.5 Серийная проверка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30 итераций, режим с backplane.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Успешно: 30 из 30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avg 7,2 мс  ·  p50 6,1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min 3,8 мс  ·  p95 13,8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Повторяемость доставки и порядок задержки в локальном стенде.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§5.6 Повторная подписка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Сценарий rejoin: разрыв соединения, новое подключение, повторное вступление в группу отчёта.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переподключение 6,5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доставка после rejoin 15,2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Контур устойчив к разрывам клиентского соединения.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§5.6 Переключение после отказа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Сценарий failover: остановка одного экземпляра, переключение через nginx на оставшийся.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переключение 352,0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доставка после failover 5,4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Контур устойчив к отказу одного узла.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Сводка результатов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Сопоставление режимов и сценариев (таблица 5.7 ВКР)</a:t>
            </a:r>
          </a:p>
        </p:txBody>
      </p:sp>
      <p:sp>
        <p:nvSpPr>
          <p:cNvPr id="80" name="Shape 80"/>
          <p:cNvSpPr txBox="1"/>
          <p:nvPr/>
        </p:nvSpPr>
        <p:spPr>
          <a:xfrm>
            <a:off x="502920" y="1417320"/>
            <a:ext cx="44348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Сценарий</a:t>
            </a:r>
          </a:p>
        </p:txBody>
      </p:sp>
      <p:sp>
        <p:nvSpPr>
          <p:cNvPr id="81" name="Shape 81"/>
          <p:cNvSpPr txBox="1"/>
          <p:nvPr/>
        </p:nvSpPr>
        <p:spPr>
          <a:xfrm>
            <a:off x="5029200" y="1417320"/>
            <a:ext cx="10058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50800" tIns="50800" rIns="50800" bIns="50800"/>
          <a:lstStyle/>
          <a:p>
            <a:pPr algn="ctr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Backplane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6126480" y="1417320"/>
            <a:ext cx="34290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Фактический результат</a:t>
            </a:r>
          </a:p>
        </p:txBody>
      </p:sp>
      <p:sp>
        <p:nvSpPr>
          <p:cNvPr id="83" name="Shape 83"/>
          <p:cNvSpPr txBox="1"/>
          <p:nvPr/>
        </p:nvSpPr>
        <p:spPr>
          <a:xfrm>
            <a:off x="9646920" y="1417320"/>
            <a:ext cx="210312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Вывод</a:t>
            </a:r>
          </a:p>
        </p:txBody>
      </p:sp>
      <p:sp>
        <p:nvSpPr>
          <p:cNvPr id="200" name="Shape 200"/>
          <p:cNvSpPr txBox="1"/>
          <p:nvPr/>
        </p:nvSpPr>
        <p:spPr>
          <a:xfrm>
            <a:off x="502920" y="182880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Доставка без Redis backplane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5029200" y="1828800"/>
            <a:ext cx="1005840" cy="6858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6126480" y="182880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Тайм-аут 10 000 мс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9646920" y="1828800"/>
            <a:ext cx="2103120" cy="6858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B91C1C"/>
                </a:solidFill>
                <a:latin typeface="Verdana"/>
                <a:cs typeface="Verdana"/>
              </a:rPr>
              <a:t>Ограничение воспроизведено</a:t>
            </a:r>
          </a:p>
        </p:txBody>
      </p:sp>
      <p:sp>
        <p:nvSpPr>
          <p:cNvPr id="210" name="Shape 210"/>
          <p:cNvSpPr txBox="1"/>
          <p:nvPr/>
        </p:nvSpPr>
        <p:spPr>
          <a:xfrm>
            <a:off x="502920" y="256032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Доставка с Redis backplane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5029200" y="2560320"/>
            <a:ext cx="1005840" cy="6858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126480" y="256032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ok: true · задержка ≈ 9,5 мс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9646920" y="2560320"/>
            <a:ext cx="2103120" cy="6858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Ограничение устранено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502920" y="329184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Серия из 30 итераций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5029200" y="329184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22" name="Shape 222"/>
          <p:cNvSpPr txBox="1"/>
          <p:nvPr/>
        </p:nvSpPr>
        <p:spPr>
          <a:xfrm>
            <a:off x="6126480" y="329184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30 из 30 · p95 = 13,8 мс</a:t>
            </a:r>
          </a:p>
        </p:txBody>
      </p:sp>
      <p:sp>
        <p:nvSpPr>
          <p:cNvPr id="223" name="Shape 223"/>
          <p:cNvSpPr txBox="1"/>
          <p:nvPr/>
        </p:nvSpPr>
        <p:spPr>
          <a:xfrm>
            <a:off x="9646920" y="329184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Повторяемость подтверждена</a:t>
            </a:r>
          </a:p>
        </p:txBody>
      </p:sp>
      <p:sp>
        <p:nvSpPr>
          <p:cNvPr id="230" name="Shape 230"/>
          <p:cNvSpPr txBox="1"/>
          <p:nvPr/>
        </p:nvSpPr>
        <p:spPr>
          <a:xfrm>
            <a:off x="502920" y="402336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Повторная подписка после разрыва</a:t>
            </a:r>
          </a:p>
        </p:txBody>
      </p:sp>
      <p:sp>
        <p:nvSpPr>
          <p:cNvPr id="231" name="Shape 231"/>
          <p:cNvSpPr txBox="1"/>
          <p:nvPr/>
        </p:nvSpPr>
        <p:spPr>
          <a:xfrm>
            <a:off x="5029200" y="402336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32" name="Shape 232"/>
          <p:cNvSpPr txBox="1"/>
          <p:nvPr/>
        </p:nvSpPr>
        <p:spPr>
          <a:xfrm>
            <a:off x="6126480" y="402336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Событие после rejoin · 15,2 мс</a:t>
            </a:r>
          </a:p>
        </p:txBody>
      </p:sp>
      <p:sp>
        <p:nvSpPr>
          <p:cNvPr id="233" name="Shape 233"/>
          <p:cNvSpPr txBox="1"/>
          <p:nvPr/>
        </p:nvSpPr>
        <p:spPr>
          <a:xfrm>
            <a:off x="9646920" y="402336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Подписка восстановлена</a:t>
            </a:r>
          </a:p>
        </p:txBody>
      </p:sp>
      <p:sp>
        <p:nvSpPr>
          <p:cNvPr id="240" name="Shape 240"/>
          <p:cNvSpPr txBox="1"/>
          <p:nvPr/>
        </p:nvSpPr>
        <p:spPr>
          <a:xfrm>
            <a:off x="502920" y="475488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Переключение после отказа узла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029200" y="475488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42" name="Shape 242"/>
          <p:cNvSpPr txBox="1"/>
          <p:nvPr/>
        </p:nvSpPr>
        <p:spPr>
          <a:xfrm>
            <a:off x="6126480" y="475488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app-api-2 → app-api-1, событие получено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9646920" y="475488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Восстановление после отказа</a:t>
            </a:r>
          </a:p>
        </p:txBody>
      </p:sp>
      <p:sp>
        <p:nvSpPr>
          <p:cNvPr id="250" name="Shape 250"/>
          <p:cNvSpPr txBox="1"/>
          <p:nvPr/>
        </p:nvSpPr>
        <p:spPr>
          <a:xfrm>
            <a:off x="502920" y="5669280"/>
            <a:ext cx="11247120" cy="5943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Сопоставление режимов на одном стенде с одним кодом показывает причинную связь между включением межузлового канала и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Чего решение не делает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Это интерфейсная синхронизация, а не строгий промышленный real-time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Задержка не нулевая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Событие проходит через два экземпляра и общий канал.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На стенде получилось ~7 мс в среднем.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Источник истины — база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Если возникает сомнение в состоянии, клиент всегда может перечитать его обычным HTTP-запросом.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Что было бы дальше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Прочный журнал событий, версии сущностей, гарантии доставки — если потребуется строгая согласованность между сервисами.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Итог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10835640" cy="12344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A2730"/>
                </a:solidFill>
                <a:latin typeface="Verdana"/>
                <a:cs typeface="Verdana"/>
              </a:rPr>
              <a:t>Изменения в отчёте теперь доходят до всех участников — независимо от того, к какому экземпляру backend они подключены.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017520"/>
            <a:ext cx="10835640" cy="118872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Дополнительный эффект — при падении одного экземпляра пользователи продолжают работать через другой.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Что было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 несколькими экземплярами backend изменения не доходили до части пользователей.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Что сделали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Два экземпляра за общей точкой входа плюс общий канал событий через Redis.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Чем доказали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Сравнение «без / с», 30 повторов, переподключение и падение узла.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Real-time scale-out ·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E3E7EB"/>
      </a:accent6>
      <a:hlink>
        <a:srgbClr val="0B6E69"/>
      </a:hlink>
      <a:folHlink>
        <a:srgbClr val="0B6E69"/>
      </a:folHlink>
    </a:clrScheme>
    <a:fontScheme name="Verdana">
      <a:majorFont>
        <a:latin typeface="Verdana"/>
      </a:majorFont>
      <a:minorFont>
        <a:latin typeface="Verdana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