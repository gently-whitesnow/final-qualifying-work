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914400"/>
            <a:ext cx="1088136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2400" b="1">
                <a:solidFill>
                  <a:srgbClr val="18212B"/>
                </a:solidFill>
                <a:latin typeface="Aptos"/>
                <a:cs typeface="Aptos"/>
              </a:rPr>
              <a:t>Презентация по отчёту о прохождении преддипломной практики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94360" y="2468880"/>
            <a:ext cx="10881360" cy="1463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700" b="0">
                <a:solidFill>
                  <a:srgbClr val="5E6A75"/>
                </a:solidFill>
                <a:latin typeface="Aptos"/>
                <a:cs typeface="Aptos"/>
              </a:rPr>
              <a:t>по теме: «Разработка real-time интерфейса с поддержкой горизонтального масштабирования WebSocket-соединений для системы отслеживания задач»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94360" y="42976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Студент: Зайцев А. С., группа 4131з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47548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Руководитель: ст. преподаватель С. А. Рогачев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94360" y="548640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0">
                <a:solidFill>
                  <a:srgbClr val="5E6A75"/>
                </a:solidFill>
                <a:latin typeface="Aptos"/>
                <a:cs typeface="Aptos"/>
              </a:rPr>
              <a:t>Санкт-Петербург, 2026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Проблема и цель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Single-node SignalR ограничивает горизонтальное масштабирование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0876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Проблема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Сведения о подключениях и группах SignalR хранятся в памяти процесса.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При нескольких экземплярах backend событие, созданное на одном узле, не доходит до клиента, подключенного к другому узлу.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Real-time пространство фрагментируется на независимые острова.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08760"/>
            <a:ext cx="5349240" cy="420624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>Цель преддипломной практики</a:t>
            </a:r>
          </a:p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>Real-time интерфейс системы отслеживания задач, в котором WebSocket-соединения обслуживаются несколькими экземплярами app-api, а события об изменении сущностей доставляются клиентам независимо от узла подключения.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Анализ подходов к масштабированию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Шесть рассмотренных вариантов; обоснован выбор Redis backplane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Один экземпляр backend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Нет масштабирования; один узел — точка отказа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43484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Несколько экземпляров без backplane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Real-time пространство фрагментируется по узлам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18388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Sticky sessions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Удерживают клиента на узле, но не доставляют события на другие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301752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Broker / event bus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Даёт межузловую доставку, но требует схем событий и persistence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434840" y="301752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Managed real-time service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Уменьшает контроль над self-hosted контуром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83880" y="3017520"/>
            <a:ext cx="3657600" cy="1325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1">
                <a:solidFill>
                  <a:srgbClr val="18212B"/>
                </a:solidFill>
                <a:latin typeface="Aptos"/>
                <a:cs typeface="Aptos"/>
              </a:rPr>
              <a:t>Redis backplane для SignalR — выбрано</a:t>
            </a:r>
          </a:p>
          <a:p>
            <a:pPr algn="l"/>
            <a:r>
              <a:rPr lang="ru-RU" sz="1300" b="1">
                <a:solidFill>
                  <a:srgbClr val="18212B"/>
                </a:solidFill>
                <a:latin typeface="Aptos"/>
                <a:cs typeface="Aptos"/>
              </a:rPr>
              <a:t>self-hosted, без перестройки логики, transient pub/sub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685800" y="4617720"/>
            <a:ext cx="1115568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Aptos"/>
                <a:cs typeface="Aptos"/>
              </a:rPr>
              <a:t>Критерии выбора: совместимость с self-hosted стендом, минимальная перестройка доменной логики, наличие штатной поддержки в ASP.NET Core SignalR, пригодность для transient UI-событий и воспроизводимость на локальном Docker Compose стенде.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Целевая архитектура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Два экземпляра app-api за nginx, общий Redis backplane для межузловой доставки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914400" y="187452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Клиент A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4400" y="3749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Клиент B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291840" y="2788920"/>
            <a:ext cx="1371600" cy="731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nginx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577840" y="187452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app-api-1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577840" y="374904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app-api-2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321040" y="2788920"/>
            <a:ext cx="2194560" cy="731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Redis backplane</a:t>
            </a:r>
          </a:p>
        </p:txBody>
      </p:sp>
      <p:cxnSp>
        <p:nvCxnSpPr>
          <p:cNvPr id="50" name="Connector 50"/>
          <p:cNvCxnSpPr/>
          <p:nvPr/>
        </p:nvCxnSpPr>
        <p:spPr>
          <a:xfrm flipH="0" flipV="0">
            <a:off x="2560320" y="2194560"/>
            <a:ext cx="731520" cy="79552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1" name="Connector 51"/>
          <p:cNvCxnSpPr/>
          <p:nvPr/>
        </p:nvCxnSpPr>
        <p:spPr>
          <a:xfrm flipH="0" flipV="1">
            <a:off x="2560320" y="3319272"/>
            <a:ext cx="731520" cy="74980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 flipH="0" flipV="1">
            <a:off x="4663440" y="2194560"/>
            <a:ext cx="914400" cy="79552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4663440" y="3319272"/>
            <a:ext cx="914400" cy="74980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 flipH="0" flipV="0">
            <a:off x="7406640" y="2194560"/>
            <a:ext cx="914400" cy="795528"/>
          </a:xfrm>
          <a:prstGeom prst="straightConnector1">
            <a:avLst/>
          </a:prstGeom>
          <a:ln w="15875" cap="flat">
            <a:solidFill>
              <a:srgbClr val="0B6E69"/>
            </a:solidFill>
            <a:headEnd type="triangle"/>
            <a:tailEnd type="triangle"/>
          </a:ln>
        </p:spPr>
      </p:cxnSp>
      <p:cxnSp>
        <p:nvCxnSpPr>
          <p:cNvPr id="55" name="Connector 55"/>
          <p:cNvCxnSpPr/>
          <p:nvPr/>
        </p:nvCxnSpPr>
        <p:spPr>
          <a:xfrm flipH="0" flipV="1">
            <a:off x="7406640" y="3319272"/>
            <a:ext cx="914400" cy="749808"/>
          </a:xfrm>
          <a:prstGeom prst="straightConnector1">
            <a:avLst/>
          </a:prstGeom>
          <a:ln w="15875" cap="flat">
            <a:solidFill>
              <a:srgbClr val="0B6E69"/>
            </a:solidFill>
            <a:headEnd type="triangle"/>
            <a:tailEnd type="triangle"/>
          </a:ln>
        </p:spPr>
      </p:cxnSp>
      <p:sp>
        <p:nvSpPr>
          <p:cNvPr id="26" name="Shape 26"/>
          <p:cNvSpPr txBox="1"/>
          <p:nvPr/>
        </p:nvSpPr>
        <p:spPr>
          <a:xfrm>
            <a:off x="640080" y="4937760"/>
            <a:ext cx="1097280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Событие публикуется в Redis · доставляется обоим узлам · группы SignalR остаются локальным runtime-состоянием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640080" y="5440680"/>
            <a:ext cx="1097280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Aptos"/>
                <a:cs typeface="Aptos"/>
              </a:rPr>
              <a:t>Оба экземпляра подключены к общей PostgreSQL; на схеме показан только канал real-time-доставки.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Что сделано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Backend-конфигурация, диагностика, стенд и проверочный клиент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1 · Redis backplane для SignalR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AddStackExchangeRedis с prefix app-api-realtime; включается переменной REDIS_CONNECTION_STRING — один и тот же код в обоих режимах.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840480"/>
            <a:ext cx="5349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2 · Диагностический контур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SERVER_INSTANCE_ID, GetConnectionDiagnosticsAsync(), логирование подключения, вступления в группу и отправки события.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172200" y="155448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3 · Multi-instance стенд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docker-compose.thesis.yml: app-api-1, app-api-2, Redis, PostgreSQL, nginx; override .no-backplane.yml для воспроизведения исходной проблемы.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172200" y="3840480"/>
            <a:ext cx="5349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4 · Проверочный клиент на Node.js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realtime-scaleout-check.mjs: одиночная доставка, серия, rejoin, failover.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Программа испытаний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Два режима по одному коду · четыре сценария проверки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4160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Два режима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• Multi-instance без Redis backplane — воспроизведение проблемы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• Multi-instance с Redis backplane — проверка решения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Один и тот же код, один и тот же сценарий; отличие — значение REDIS_CONNECTION_STRING.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54480"/>
            <a:ext cx="5349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Четыре сценария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Одиночная cross-node доставка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Серия из 5 итераций (THESIS_ITERATIONS)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Rejoin после разрыва соединения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Failover после остановки узла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Главный результат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Один код и один сценарий — разница только в наличии Redis-канала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3291840"/>
          </a:xfrm>
          <a:prstGeom prst="roundRect">
            <a:avLst/>
          </a:prstGeom>
          <a:solidFill>
            <a:srgbClr val="FFF3D8"/>
          </a:solidFill>
          <a:ln w="12700">
            <a:solidFill>
              <a:srgbClr val="C76F2E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Без backplane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ReceiveReportPatch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timed out · 10 000 мс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Событие, созданное на app-api-1, не дошло до клиента на app-api-2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54480"/>
            <a:ext cx="5349240" cy="329184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С backplane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ok: true · ReceiveReportPatch получен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deliveryLatencyMs ≈ 9,5 мс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Клиент на app-api-2 получил событие с app-api-1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85800" y="5074920"/>
            <a:ext cx="1083564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Сопоставление двух режимов на одном стенде показывает причинную связь между включением межузлового канала SignalR и успешной доставкой события.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Дополнительные проверки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Повторяемость, повторное вступление в группу и восстановление после отказа узла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600200"/>
            <a:ext cx="3657600" cy="41148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Серия 5 итераций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successful 5 / 5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min 5,5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avg 8,4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p50 9,1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p95 11,6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Подтверждена повторяемость доставки.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434840" y="16002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Rejoin после разрыва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Новый connectionId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повторный JoinReportGroupAsync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rejoin 12,9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delivery 6,6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Подтверждена повторная подписка.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183880" y="16002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Failover узла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Контейнер app-api-2 остановлен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клиент переподключился через nginx к app-api-1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reconnect 240,3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delivery 7,3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Подтверждено восстановление после отказа узла.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Вывод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10835640" cy="13716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Ограничение single-node WebSocket-архитектуры устранено за счёт распределённого real-time контура; тезис практики подтверждён экспериментально.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Проблема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Single-node SignalR: события не пересекают границу узла.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434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Решение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SignalR + Redis backplane + nginx + два app-api; общий код, конфигурация через переменную окружения.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80010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Доказательство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Delivery (без / с) · серия 5 / 5 · rejoin · failover — воспроизводимый Docker Compose стенд.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R">
  <a:themeElements>
    <a:clrScheme name="VKR">
      <a:dk1>
        <a:srgbClr val="18212B"/>
      </a:dk1>
      <a:lt1>
        <a:srgbClr val="F6F3EC"/>
      </a:lt1>
      <a:dk2>
        <a:srgbClr val="293241"/>
      </a:dk2>
      <a:lt2>
        <a:srgbClr val="FFFFFF"/>
      </a:lt2>
      <a:accent1>
        <a:srgbClr val="0B6E69"/>
      </a:accent1>
      <a:accent2>
        <a:srgbClr val="C76F2E"/>
      </a:accent2>
      <a:accent3>
        <a:srgbClr val="E8F3F1"/>
      </a:accent3>
      <a:accent4>
        <a:srgbClr val="FFF3D8"/>
      </a:accent4>
      <a:accent5>
        <a:srgbClr val="5E6A75"/>
      </a:accent5>
      <a:accent6>
        <a:srgbClr val="D7D2C7"/>
      </a:accent6>
      <a:hlink>
        <a:srgbClr val="0B6E69"/>
      </a:hlink>
      <a:folHlink>
        <a:srgbClr val="0B6E69"/>
      </a:folHlink>
    </a:clrScheme>
    <a:fontScheme name="Aptos">
      <a:majorFont>
        <a:latin typeface="Aptos"/>
      </a:majorFont>
      <a:minorFont>
        <a:latin typeface="Aptos"/>
      </a:minorFont>
    </a:fontScheme>
    <a:fmtScheme name="VKR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ВКР real-time scale-out</dc:title>
  <dc:creator>Codex</dc:creator>
</cp:coreProperties>
</file>